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svg" ContentType="image/svg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9.xml" ContentType="application/vnd.openxmlformats-officedocument.presentationml.slide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15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11" Type="http://schemas.openxmlformats.org/officeDocument/2006/relationships/slide" Target="slides/slide11.xml" /><Relationship Id="rId10" Type="http://schemas.openxmlformats.org/officeDocument/2006/relationships/slide" Target="slides/slide10.xml" /><Relationship Id="rId8" Type="http://schemas.openxmlformats.org/officeDocument/2006/relationships/slide" Target="slides/slide8.xml" /><Relationship Id="rId1" Type="http://schemas.openxmlformats.org/officeDocument/2006/relationships/slide" Target="slides/slide1.xml" /><Relationship Id="rId14" Type="http://schemas.openxmlformats.org/officeDocument/2006/relationships/slide" Target="slides/slide14.xml" /><Relationship Id="rId12" Type="http://schemas.openxmlformats.org/officeDocument/2006/relationships/slide" Target="slides/slide12.xml" /><Relationship Id="rId13" Type="http://schemas.openxmlformats.org/officeDocument/2006/relationships/slide" Target="slides/slide13.xml" /><Relationship Id="rId15" Type="http://schemas.openxmlformats.org/officeDocument/2006/relationships/notesMaster" Target="notesMasters/notesMaster1.xml" 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Relationship Id="rId2" Type="http://schemas.openxmlformats.org/officeDocument/2006/relationships/slide" Target="slides/slide2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png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2.png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png" /></Relationships>
</file>

<file path=ppt/slides/_rels/slide12.xml.rels><?xml version="1.0" encoding="UTF-8" standalone="yes"?><Relationships xmlns="http://schemas.openxmlformats.org/package/2006/relationships"><Relationship Id="rId2" Type="http://schemas.openxmlformats.org/officeDocument/2006/relationships/image" Target="media/image4.svg" /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svg" /><Relationship Id="rId3" Type="http://schemas.openxmlformats.org/officeDocument/2006/relationships/image" Target="media/image5.svg" /><Relationship Id="rId6" Type="http://schemas.openxmlformats.org/officeDocument/2006/relationships/image" Target="media/image8.svg" /><Relationship Id="rId4" Type="http://schemas.openxmlformats.org/officeDocument/2006/relationships/image" Target="media/image6.svg" /><Relationship Id="rId5" Type="http://schemas.openxmlformats.org/officeDocument/2006/relationships/image" Target="media/image7.svg" /><Relationship Id="rId7" Type="http://schemas.openxmlformats.org/officeDocument/2006/relationships/image" Target="media/image9.svg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0.png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1.svg" 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 descr="&lt;Slide style={{ width: 1280, height: 720, padding: 0, position: 'relative', background: '#0C447C', overflow: 'hidden' }}&gt;&#10;    &lt;Image src='assets/hero_cover.png' style={{ position: 'absolute', top: 0, left: 0, width: 1280, height: 720, objectFit: 'cover' }} /&gt;&#10;    &lt;Box style={{ position: 'absolute', top: 0, left: 0, width: 1280, height: 720, background: 'rgba(12, 68, 124, 0.74)' }} /&gt;&#10;    &lt;Box style={{ position: 'absolute', top: 0, left: 0, width: 14, height: 720, background: '#BA7517' }} /&gt;&#10;    &lt;Box style={{ position: 'relative', zIndex: 2, width: 1280, height: 720, padding: '0 92px', flexDirection: 'column', justifyContent: 'center' }}&gt;&#10;        &lt;Text style={{ fontFamily: 'Microsoft YaHei', fontSize: 16, color: '#85B7EB', letterSpacing: 4, marginBottom: 28 }}&gt;无形资产评估 · 种业专项&lt;/Text&gt;&#10;        &lt;Text style={{ fontFamily: 'Microsoft YaHei', fontSize: 72, fontWeight: 'bold', color: '#FFFFFF', lineHeight: 1.22 }}&gt;种质资源与&lt;br /&gt;植物新品种权评估&lt;/Text&gt;&#10;        &lt;Box style={{ width: 76, height: 5, background: '#BA7517', marginTop: 32, marginBottom: 30 }} /&gt;&#10;        &lt;Text style={{ fontFamily: 'Microsoft YaHei', fontSize: 26, color: '#FFFFFF', lineHeight: 1.6 }}&gt;让沉睡的技术资产，变成银行认得出的价值&lt;/Text&gt;&#10;    &lt;/Box&gt;&#10;    &lt;Box style={{ position: 'absolute', left: 92, bottom: 46, zIndex: 2, flexDirection: 'row', alignItems: 'center', gap: 16 }}&gt;&#10;        &lt;Text style={{ fontFamily: 'Microsoft YaHei', fontSize: 16, color: '#85B7EB' }}&gt;海南国扬土地房地产资产评估有限公司&lt;/Text&gt;&#10;        &lt;Box style={{ width: 1, height: 16, background: '#85B7EB' }} /&gt;&#10;        &lt;Text style={{ fontFamily: 'Georgia', fontSize: 16, color: '#85B7EB' }}&gt;202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C447C"/>
          </a:solidFill>
          <a:ln/>
        </p:spPr>
        <p:txBody>
          <a:bodyPr/>
          <a:p/>
        </p:txBody>
      </p:sp>
      <p:pic>
        <p:nvPicPr>
          <p:cNvPr id="3" name=""/>
          <p:cNvPicPr>
            <a:picLocks noChangeAspect="1"/>
          </p:cNvPicPr>
          <p:nvPr/>
        </p:nvPicPr>
        <p:blipFill>
          <a:blip r:embed="rId1"/>
          <a:srcRect l="0" t="3094" r="0" b="3094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C447C">
              <a:alpha val="74000"/>
            </a:srgbClr>
          </a:solidFill>
          <a:ln/>
        </p:spPr>
        <p:txBody>
          <a:bodyPr/>
          <a:p/>
        </p:txBody>
      </p:sp>
      <p:sp>
        <p:nvSpPr>
          <p:cNvPr id="5" name=""/>
          <p:cNvSpPr/>
          <p:nvPr/>
        </p:nvSpPr>
        <p:spPr>
          <a:xfrm rot="0" flipH="0" flipV="0">
            <a:off x="0" y="0"/>
            <a:ext cx="133350" cy="6858000"/>
          </a:xfrm>
          <a:prstGeom prst="rect">
            <a:avLst/>
          </a:prstGeom>
          <a:solidFill>
            <a:srgbClr val="BA7517"/>
          </a:solidFill>
          <a:ln/>
        </p:spPr>
        <p:txBody>
          <a:bodyPr/>
          <a:p/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876300" y="1638300"/>
            <a:ext cx="10439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300">
                <a:solidFill>
                  <a:srgbClr val="85B7EB"/>
                </a:solidFill>
                <a:latin typeface="Microsoft YaHei"/>
                <a:ea typeface="Microsoft YaHei"/>
              </a:rPr>
              <a:t>无形资产评估</a:t>
            </a:r>
            <a:r>
              <a:rPr lang="en-US" sz="1200" spc="300">
                <a:solidFill>
                  <a:srgbClr val="85B7EB"/>
                </a:solidFill>
                <a:latin typeface="Microsoft YaHei"/>
                <a:ea typeface="Microsoft YaHei"/>
              </a:rPr>
              <a:t> · </a:t>
            </a:r>
            <a:r>
              <a:rPr lang="zh-CN" sz="1200" spc="300">
                <a:solidFill>
                  <a:srgbClr val="85B7EB"/>
                </a:solidFill>
                <a:latin typeface="Microsoft YaHei"/>
                <a:ea typeface="Microsoft YaHei"/>
              </a:rPr>
              <a:t>种业专项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876300" y="2095500"/>
            <a:ext cx="10439400" cy="2009775"/>
          </a:xfrm>
          <a:prstGeom prst="rect"/>
        </p:spPr>
        <p:txBody>
          <a:bodyPr wrap="none" lIns="0" tIns="0" rIns="0" bIns="0"/>
          <a:p>
            <a:pPr>
              <a:lnSpc>
                <a:spcPct val="122000"/>
              </a:lnSpc>
            </a:pPr>
            <a:r>
              <a:rPr lang="zh-CN" sz="5400" b="1">
                <a:solidFill>
                  <a:srgbClr val="FFFFFF"/>
                </a:solidFill>
                <a:latin typeface="Microsoft YaHei"/>
                <a:ea typeface="Microsoft YaHei"/>
              </a:rPr>
              <a:t>种质资源与</a:t>
            </a:r>
            <a:endParaRPr/>
          </a:p>
          <a:p>
            <a:pPr>
              <a:lnSpc>
                <a:spcPct val="122000"/>
              </a:lnSpc>
            </a:pPr>
            <a:r>
              <a:rPr lang="zh-CN" sz="5400" b="1">
                <a:solidFill>
                  <a:srgbClr val="FFFFFF"/>
                </a:solidFill>
                <a:latin typeface="Microsoft YaHei"/>
                <a:ea typeface="Microsoft YaHei"/>
              </a:rPr>
              <a:t>植物新品种权评估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876300" y="4410075"/>
            <a:ext cx="723900" cy="47625"/>
          </a:xfrm>
          <a:prstGeom prst="rect">
            <a:avLst/>
          </a:prstGeom>
          <a:solidFill>
            <a:srgbClr val="BA7517"/>
          </a:solidFill>
          <a:ln/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876300" y="4743450"/>
            <a:ext cx="10439400" cy="4762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950">
                <a:solidFill>
                  <a:srgbClr val="FFFFFF"/>
                </a:solidFill>
                <a:latin typeface="Microsoft YaHei"/>
                <a:ea typeface="Microsoft YaHei"/>
              </a:rPr>
              <a:t>让沉睡的技术资产，变成银行认得出的价值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876300" y="6229350"/>
            <a:ext cx="2590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5B7EB"/>
                </a:solidFill>
                <a:latin typeface="Microsoft YaHei"/>
                <a:ea typeface="Microsoft YaHei"/>
              </a:rPr>
              <a:t>海南国扬土地房地产资产评估有限公司</a:t>
            </a:r>
            <a:endParaRPr/>
          </a:p>
        </p:txBody>
      </p:sp>
      <p:sp>
        <p:nvSpPr>
          <p:cNvPr id="11" name=""/>
          <p:cNvSpPr/>
          <p:nvPr/>
        </p:nvSpPr>
        <p:spPr>
          <a:xfrm rot="0" flipH="0" flipV="0">
            <a:off x="3619500" y="6248400"/>
            <a:ext cx="9525" cy="152400"/>
          </a:xfrm>
          <a:prstGeom prst="rect">
            <a:avLst/>
          </a:prstGeom>
          <a:solidFill>
            <a:srgbClr val="85B7EB"/>
          </a:solidFill>
          <a:ln/>
        </p:spPr>
        <p:txBody>
          <a:bodyPr/>
          <a:p/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3781425" y="6229350"/>
            <a:ext cx="3524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85B7EB"/>
                </a:solidFill>
                <a:latin typeface="Georgia"/>
                <a:ea typeface="Georgia"/>
              </a:rPr>
              <a:t>2026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37" name="" descr="&lt;Slide style={{ width: 1280, height: 720, padding: '20px 72px', background: '#FFFFFF', flexDirection: 'column' }}&gt;&#10;    &lt;Box style={{ width: '100%', height: 112, flexDirection: 'row', alignItems: 'center', justifyContent: 'space-between' }}&gt;&#10;        &lt;Text style={{ fontFamily: 'Microsoft YaHei', fontSize: 36, fontWeight: 'bold', color: '#1A1A1A' }}&gt;本册导读&lt;/Text&gt;&#10;        &lt;Text style={{ fontFamily: 'Microsoft YaHei', fontSize: 16, color: '#5A6672' }}&gt;三个问题，三章讲完&lt;/Text&gt;&#10;    &lt;/Box&gt;&#10;    &lt;Box style={{ width: '100%', height: 528, flexDirection: 'row', gap: 34 }}&gt;&#10;        &lt;Box style={{ width: 318, height: '100%', background: '#0C447C', borderRadius: 10, padding: '34px 28px', flexDirection: 'column', justifyContent: 'space-between' }}&gt;&#10;            &lt;Box style={{ flexDirection: 'column' }}&gt;&#10;                &lt;Text style={{ fontFamily: 'Georgia', fontSize: 16, color: '#85B7EB', letterSpacing: 4, marginBottom: 18 }}&gt;CONTENTS&lt;/Text&gt;&#10;                &lt;Text style={{ fontFamily: 'Microsoft YaHei', fontSize: 28, fontWeight: 'bold', color: '#FFFFFF', lineHeight: 1.5 }}&gt;你的技术资产&lt;br /&gt;值多少、&lt;br /&gt;能用来做什么、&lt;br /&gt;找谁做&lt;/Text&gt;&#10;            &lt;/Box&gt;&#10;            &lt;Box style={{ width: 48, height: 4, background: '#BA7517' }} /&gt;&#10;        &lt;/Box&gt;&#10;        &lt;Box style={{ flex: 1, height: '100%', flexDirection: 'column', justifyContent: 'space-between' }}&gt;&#10;            &lt;Box style={{ flexDirection: 'row', gap: 20, alignItems: 'flex-start' }}&gt;&#10;                &lt;Text style={{ fontFamily: 'Georgia', fontSize: 40, fontWeight: 'bold', color: '#BA7517', lineHeight: 1.0, width: 66 }}&gt;01&lt;/Text&gt;&#10;                &lt;Box style={{ flexDirection: 'column', flex: 1 }}&gt;&#10;                    &lt;Text style={{ fontFamily: 'Microsoft YaHei', fontSize: 24, fontWeight: 'bold', color: '#0C447C', marginBottom: 8 }}&gt;你的资产，需要一次专业定价&lt;/Text&gt;&#10;                    &lt;Text style={{ fontFamily: 'Microsoft YaHei', fontSize: 18, color: '#5A6672', lineHeight: 1.65 }}&gt;引种和选育沉淀下来的材料与权利，为什么长期停在账外；先分清「评什么」，再谈值多少。&lt;/Text&gt;&#10;                &lt;/Box&gt;&#10;            &lt;/Box&gt;&#10;            &lt;Box style={{ flexDirection: 'row', gap: 20, alignItems: 'flex-start' }}&gt;&#10;                &lt;Text style={{ fontFamily: 'Georgia', fontSize: 40, fontWeight: 'bold', color: '#BA7517', lineHeight: 1.0, width: 66 }}&gt;02&lt;/Text&gt;&#10;                &lt;Box style={{ flexDirection: 'column', flex: 1 }}&gt;&#10;                    &lt;Text style={{ fontFamily: 'Microsoft YaHei', fontSize: 24, fontWeight: 'bold', color: '#0C447C', marginBottom: 8 }}&gt;这条路，已经有人走通了&lt;/Text&gt;&#10;                    &lt;Text style={{ fontFamily: 'Microsoft YaHei', fontSize: 18, color: '#5A6672', lineHeight: 1.65 }}&gt;2026 年四家银行以植物新品种权质押放款，金额从 300 万到 3 亿元；评估报告是整条链条的第一步。&lt;/Text&gt;&#10;                &lt;/Box&gt;&#10;            &lt;/Box&gt;&#10;            &lt;Box style={{ flexDirection: 'row', gap: 20, alignItems: 'flex-start' }}&gt;&#10;                &lt;Text style={{ fontFamily: 'Georgia', fontSize: 40, fontWeight: 'bold', color: '#BA7517', lineHeight: 1.0, width: 66 }}&gt;03&lt;/Text&gt;&#10;                &lt;Box style={{ flexDirection: 'column', flex: 1 }}&gt;&#10;                    &lt;Text style={{ fontFamily: 'Microsoft YaHei', fontSize: 24, fontWeight: 'bold', color: '#0C447C', marginBottom: 8 }}&gt;我们能为你做什么&lt;/Text&gt;&#10;                    &lt;Text style={{ fontFamily: 'Microsoft YaHei', fontSize: 18, color: '#5A6672', lineHeight: 1.65 }}&gt;六项服务与三步启动路径。第一步成本最低，可以先做判断，再决定是否正式委托。&lt;/Text&gt;&#10;                &lt;/Box&gt;&#10;            &lt;/Box&gt;&#10;        &lt;/Box&gt;&#10;    &lt;/Box&gt;&#10;    &lt;Box style={{ width: '100%', height: 40, flexDirection: 'row', alignItems: 'center', justifyContent: 'space-between' }}&gt;&#10;        &lt;Text style={{ fontFamily: 'Microsoft YaHei', fontSize: 14, color: '#5A6672' }}&gt;海南国扬 · 无形资产评估专项&lt;/Text&gt;&#10;        &lt;Text style={{ fontFamily: 'Georgia', fontSize: 14, color: '#5A6672' }}&gt;02 / 1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685800" y="514350"/>
            <a:ext cx="13716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A1A1A"/>
                </a:solidFill>
                <a:latin typeface="Microsoft YaHei"/>
                <a:ea typeface="Microsoft YaHei"/>
              </a:rPr>
              <a:t>本册导读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10134600" y="628650"/>
            <a:ext cx="1371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A6672"/>
                </a:solidFill>
                <a:latin typeface="Microsoft YaHei"/>
                <a:ea typeface="Microsoft YaHei"/>
              </a:rPr>
              <a:t>三个问题，三章讲完</a:t>
            </a:r>
            <a:endParaRPr/>
          </a:p>
        </p:txBody>
      </p:sp>
      <p:sp>
        <p:nvSpPr>
          <p:cNvPr id="141" name=""/>
          <p:cNvSpPr/>
          <p:nvPr/>
        </p:nvSpPr>
        <p:spPr>
          <a:xfrm rot="0" flipH="0" flipV="0">
            <a:off x="685800" y="1257300"/>
            <a:ext cx="3028950" cy="5029200"/>
          </a:xfrm>
          <a:prstGeom prst="roundRect">
            <a:avLst>
              <a:gd name="adj" fmla="val 3145"/>
            </a:avLst>
          </a:prstGeom>
          <a:solidFill>
            <a:srgbClr val="0C447C"/>
          </a:solidFill>
          <a:ln/>
        </p:spPr>
        <p:txBody>
          <a:bodyPr/>
          <a:p/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952500" y="1581150"/>
            <a:ext cx="24955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300">
                <a:solidFill>
                  <a:srgbClr val="85B7EB"/>
                </a:solidFill>
                <a:latin typeface="Georgia"/>
                <a:ea typeface="Georgia"/>
              </a:rPr>
              <a:t>CONTENTS</a:t>
            </a:r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952500" y="1943100"/>
            <a:ext cx="2495550" cy="19240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2100" b="1">
                <a:solidFill>
                  <a:srgbClr val="FFFFFF"/>
                </a:solidFill>
                <a:latin typeface="Microsoft YaHei"/>
                <a:ea typeface="Microsoft YaHei"/>
              </a:rPr>
              <a:t>你的技术资产</a:t>
            </a:r>
            <a:endParaRPr/>
          </a:p>
          <a:p>
            <a:pPr>
              <a:lnSpc>
                <a:spcPct val="150000"/>
              </a:lnSpc>
            </a:pPr>
            <a:r>
              <a:rPr lang="zh-CN" sz="2100" b="1">
                <a:solidFill>
                  <a:srgbClr val="FFFFFF"/>
                </a:solidFill>
                <a:latin typeface="Microsoft YaHei"/>
                <a:ea typeface="Microsoft YaHei"/>
              </a:rPr>
              <a:t>值多少、</a:t>
            </a:r>
            <a:endParaRPr/>
          </a:p>
          <a:p>
            <a:pPr>
              <a:lnSpc>
                <a:spcPct val="150000"/>
              </a:lnSpc>
            </a:pPr>
            <a:r>
              <a:rPr lang="zh-CN" sz="2100" b="1">
                <a:solidFill>
                  <a:srgbClr val="FFFFFF"/>
                </a:solidFill>
                <a:latin typeface="Microsoft YaHei"/>
                <a:ea typeface="Microsoft YaHei"/>
              </a:rPr>
              <a:t>能用来做什么、</a:t>
            </a:r>
            <a:endParaRPr/>
          </a:p>
          <a:p>
            <a:pPr>
              <a:lnSpc>
                <a:spcPct val="150000"/>
              </a:lnSpc>
            </a:pPr>
            <a:r>
              <a:rPr lang="zh-CN" sz="2100" b="1">
                <a:solidFill>
                  <a:srgbClr val="FFFFFF"/>
                </a:solidFill>
                <a:latin typeface="Microsoft YaHei"/>
                <a:ea typeface="Microsoft YaHei"/>
              </a:rPr>
              <a:t>找谁做</a:t>
            </a:r>
            <a:endParaRPr/>
          </a:p>
        </p:txBody>
      </p:sp>
      <p:sp>
        <p:nvSpPr>
          <p:cNvPr id="144" name=""/>
          <p:cNvSpPr/>
          <p:nvPr/>
        </p:nvSpPr>
        <p:spPr>
          <a:xfrm rot="0" flipH="0" flipV="0">
            <a:off x="952500" y="5924550"/>
            <a:ext cx="457200" cy="38100"/>
          </a:xfrm>
          <a:prstGeom prst="rect">
            <a:avLst/>
          </a:prstGeom>
          <a:solidFill>
            <a:srgbClr val="BA7517"/>
          </a:solidFill>
          <a:ln/>
        </p:spPr>
        <p:txBody>
          <a:bodyPr/>
          <a:p/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4038600" y="1257300"/>
            <a:ext cx="6286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BA7517"/>
                </a:solidFill>
                <a:latin typeface="Georgia"/>
                <a:ea typeface="Georgia"/>
              </a:rPr>
              <a:t>01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4857750" y="1257300"/>
            <a:ext cx="66484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C447C"/>
                </a:solidFill>
                <a:latin typeface="Microsoft YaHei"/>
                <a:ea typeface="Microsoft YaHei"/>
              </a:rPr>
              <a:t>你的资产，需要一次专业定价</a:t>
            </a:r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4857750" y="1609725"/>
            <a:ext cx="6648450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350">
                <a:solidFill>
                  <a:srgbClr val="5A6672"/>
                </a:solidFill>
                <a:latin typeface="Microsoft YaHei"/>
                <a:ea typeface="Microsoft YaHei"/>
              </a:rPr>
              <a:t>引种和选育沉淀下来的材料与权利，为什么长期停在账外；先分清「评什么」，再谈值多少。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4038600" y="3429000"/>
            <a:ext cx="6286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BA7517"/>
                </a:solidFill>
                <a:latin typeface="Georgia"/>
                <a:ea typeface="Georgia"/>
              </a:rPr>
              <a:t>02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4857750" y="3429000"/>
            <a:ext cx="66484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C447C"/>
                </a:solidFill>
                <a:latin typeface="Microsoft YaHei"/>
                <a:ea typeface="Microsoft YaHei"/>
              </a:rPr>
              <a:t>这条路，已经有人走通了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4857750" y="3781425"/>
            <a:ext cx="6648450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1350">
                <a:solidFill>
                  <a:srgbClr val="5A6672"/>
                </a:solidFill>
                <a:latin typeface="Microsoft YaHei"/>
                <a:ea typeface="Microsoft YaHei"/>
              </a:rPr>
              <a:t>2026 </a:t>
            </a:r>
            <a:r>
              <a:rPr lang="zh-CN" sz="1350">
                <a:solidFill>
                  <a:srgbClr val="5A6672"/>
                </a:solidFill>
                <a:latin typeface="Microsoft YaHei"/>
                <a:ea typeface="Microsoft YaHei"/>
              </a:rPr>
              <a:t>年四家银行以植物新品种权质押放款，金额从</a:t>
            </a:r>
            <a:r>
              <a:rPr lang="en-US" sz="1350">
                <a:solidFill>
                  <a:srgbClr val="5A6672"/>
                </a:solidFill>
                <a:latin typeface="Microsoft YaHei"/>
                <a:ea typeface="Microsoft YaHei"/>
              </a:rPr>
              <a:t> 300 </a:t>
            </a:r>
            <a:r>
              <a:rPr lang="zh-CN" sz="1350">
                <a:solidFill>
                  <a:srgbClr val="5A6672"/>
                </a:solidFill>
                <a:latin typeface="Microsoft YaHei"/>
                <a:ea typeface="Microsoft YaHei"/>
              </a:rPr>
              <a:t>万到</a:t>
            </a:r>
            <a:r>
              <a:rPr lang="en-US" sz="1350">
                <a:solidFill>
                  <a:srgbClr val="5A6672"/>
                </a:solidFill>
                <a:latin typeface="Microsoft YaHei"/>
                <a:ea typeface="Microsoft YaHei"/>
              </a:rPr>
              <a:t> 3 </a:t>
            </a:r>
            <a:r>
              <a:rPr lang="zh-CN" sz="1350">
                <a:solidFill>
                  <a:srgbClr val="5A6672"/>
                </a:solidFill>
                <a:latin typeface="Microsoft YaHei"/>
                <a:ea typeface="Microsoft YaHei"/>
              </a:rPr>
              <a:t>亿元；评估报告是整条链条的第一步。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4038600" y="5591175"/>
            <a:ext cx="6286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BA7517"/>
                </a:solidFill>
                <a:latin typeface="Georgia"/>
                <a:ea typeface="Georgia"/>
              </a:rPr>
              <a:t>03</a:t>
            </a:r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4857750" y="5591175"/>
            <a:ext cx="66484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C447C"/>
                </a:solidFill>
                <a:latin typeface="Microsoft YaHei"/>
                <a:ea typeface="Microsoft YaHei"/>
              </a:rPr>
              <a:t>我们能为你做什么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4857750" y="5943600"/>
            <a:ext cx="6648450" cy="3429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350">
                <a:solidFill>
                  <a:srgbClr val="5A6672"/>
                </a:solidFill>
                <a:latin typeface="Microsoft YaHei"/>
                <a:ea typeface="Microsoft YaHei"/>
              </a:rPr>
              <a:t>六项服务与三步启动路径。第一步成本最低，可以先做判断，再决定是否正式委托。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685800" y="6400800"/>
            <a:ext cx="1714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A6672"/>
                </a:solidFill>
                <a:latin typeface="Microsoft YaHei"/>
                <a:ea typeface="Microsoft YaHei"/>
              </a:rPr>
              <a:t>海南国扬</a:t>
            </a:r>
            <a:r>
              <a:rPr lang="en-US" sz="1050">
                <a:solidFill>
                  <a:srgbClr val="5A6672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5A6672"/>
                </a:solidFill>
                <a:latin typeface="Microsoft YaHei"/>
                <a:ea typeface="Microsoft YaHei"/>
              </a:rPr>
              <a:t>无形资产评估专项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11087100" y="6400800"/>
            <a:ext cx="419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A6672"/>
                </a:solidFill>
                <a:latin typeface="Georgia"/>
                <a:ea typeface="Georgia"/>
              </a:rPr>
              <a:t>02 / 14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56" name="" descr="&lt;Slide style={{ width: 1280, height: 720, padding: 0, position: 'relative', background: '#0C447C', overflow: 'hidden' }}&gt;&#10;    &lt;Box style={{ position: 'absolute', top: 0, left: 0, width: 14, height: 720, background: '#BA7517' }} /&gt;&#10;    &lt;Box style={{ position: 'absolute', right: -60, top: -40, width: 420, height: 420, borderRadius: 210, background: 'rgba(24, 95, 165, 0.55)' }} /&gt;&#10;    &lt;Box style={{ position: 'relative', zIndex: 2, width: 1280, height: 720, padding: '0 96px', flexDirection: 'column', justifyContent: 'center' }}&gt;&#10;        &lt;Text style={{ fontFamily: 'Microsoft YaHei', fontSize: 16, color: '#85B7EB', letterSpacing: 4, marginBottom: 20 }}&gt;第一章&lt;/Text&gt;&#10;        &lt;Text style={{ fontFamily: 'Georgia', fontSize: 140, fontWeight: 'bold', color: '#BA7517', lineHeight: 1.0, marginBottom: 22 }}&gt;01&lt;/Text&gt;&#10;        &lt;Text style={{ fontFamily: 'Microsoft YaHei', fontSize: 42, fontWeight: 'bold', color: '#FFFFFF', lineHeight: 1.3, marginBottom: 22 }}&gt;你的资产，需要一次专业定价&lt;/Text&gt;&#10;        &lt;Box style={{ width: 76, height: 4, background: '#BA7517', marginBottom: 22 }} /&gt;&#10;        &lt;Text style={{ fontFamily: 'Microsoft YaHei', fontSize: 20, color: '#85B7EB', lineHeight: 1.65, width: 760 }}&gt;引种与选育沉淀下来的材料和技术权利，长期停在账外。这一章先说清它们到底是什么，再说值多少。&lt;/Text&gt;&#10;    &lt;/Box&gt;&#10;    &lt;Box style={{ position: 'absolute', left: 96, bottom: 34, zIndex: 2 }}&gt;&#10;        &lt;Text style={{ fontFamily: 'Georgia', fontSize: 14, color: '#85B7EB' }}&gt;03 / 1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C447C"/>
          </a:solidFill>
          <a:ln/>
        </p:spPr>
        <p:txBody>
          <a:bodyPr/>
          <a:p/>
        </p:txBody>
      </p:sp>
      <p:sp>
        <p:nvSpPr>
          <p:cNvPr id="158" name=""/>
          <p:cNvSpPr/>
          <p:nvPr/>
        </p:nvSpPr>
        <p:spPr>
          <a:xfrm rot="0" flipH="0" flipV="0">
            <a:off x="0" y="0"/>
            <a:ext cx="133350" cy="6858000"/>
          </a:xfrm>
          <a:prstGeom prst="rect">
            <a:avLst/>
          </a:prstGeom>
          <a:solidFill>
            <a:srgbClr val="BA7517"/>
          </a:solidFill>
          <a:ln/>
        </p:spPr>
        <p:txBody>
          <a:bodyPr/>
          <a:p/>
        </p:txBody>
      </p:sp>
      <p:sp>
        <p:nvSpPr>
          <p:cNvPr id="159" name=""/>
          <p:cNvSpPr/>
          <p:nvPr/>
        </p:nvSpPr>
        <p:spPr>
          <a:xfrm rot="0" flipH="0" flipV="0">
            <a:off x="8763000" y="-381000"/>
            <a:ext cx="4000500" cy="4000500"/>
          </a:xfrm>
          <a:custGeom>
            <a:pathLst>
              <a:path w="420" h="420">
                <a:moveTo>
                  <a:pt x="336" y="42"/>
                </a:moveTo>
                <a:lnTo>
                  <a:pt x="340" y="45"/>
                </a:lnTo>
                <a:lnTo>
                  <a:pt x="344" y="48"/>
                </a:lnTo>
                <a:lnTo>
                  <a:pt x="347" y="51"/>
                </a:lnTo>
                <a:lnTo>
                  <a:pt x="351" y="55"/>
                </a:lnTo>
                <a:lnTo>
                  <a:pt x="355" y="58"/>
                </a:lnTo>
                <a:lnTo>
                  <a:pt x="358" y="62"/>
                </a:lnTo>
                <a:lnTo>
                  <a:pt x="360" y="63"/>
                </a:lnTo>
                <a:lnTo>
                  <a:pt x="360" y="357"/>
                </a:lnTo>
                <a:lnTo>
                  <a:pt x="358" y="358"/>
                </a:lnTo>
                <a:lnTo>
                  <a:pt x="355" y="362"/>
                </a:lnTo>
                <a:lnTo>
                  <a:pt x="351" y="365"/>
                </a:lnTo>
                <a:lnTo>
                  <a:pt x="347" y="369"/>
                </a:lnTo>
                <a:lnTo>
                  <a:pt x="344" y="372"/>
                </a:lnTo>
                <a:lnTo>
                  <a:pt x="340" y="375"/>
                </a:lnTo>
                <a:lnTo>
                  <a:pt x="336" y="378"/>
                </a:lnTo>
                <a:lnTo>
                  <a:pt x="332" y="381"/>
                </a:lnTo>
                <a:lnTo>
                  <a:pt x="327" y="384"/>
                </a:lnTo>
                <a:lnTo>
                  <a:pt x="323" y="387"/>
                </a:lnTo>
                <a:lnTo>
                  <a:pt x="319" y="390"/>
                </a:lnTo>
                <a:lnTo>
                  <a:pt x="314" y="392"/>
                </a:lnTo>
                <a:lnTo>
                  <a:pt x="310" y="395"/>
                </a:lnTo>
                <a:lnTo>
                  <a:pt x="306" y="397"/>
                </a:lnTo>
                <a:lnTo>
                  <a:pt x="301" y="399"/>
                </a:lnTo>
                <a:lnTo>
                  <a:pt x="296" y="401"/>
                </a:lnTo>
                <a:lnTo>
                  <a:pt x="292" y="403"/>
                </a:lnTo>
                <a:lnTo>
                  <a:pt x="287" y="405"/>
                </a:lnTo>
                <a:lnTo>
                  <a:pt x="282" y="407"/>
                </a:lnTo>
                <a:lnTo>
                  <a:pt x="277" y="409"/>
                </a:lnTo>
                <a:lnTo>
                  <a:pt x="272" y="411"/>
                </a:lnTo>
                <a:lnTo>
                  <a:pt x="267" y="412"/>
                </a:lnTo>
                <a:lnTo>
                  <a:pt x="262" y="413"/>
                </a:lnTo>
                <a:lnTo>
                  <a:pt x="257" y="415"/>
                </a:lnTo>
                <a:lnTo>
                  <a:pt x="252" y="416"/>
                </a:lnTo>
                <a:lnTo>
                  <a:pt x="247" y="417"/>
                </a:lnTo>
                <a:lnTo>
                  <a:pt x="242" y="418"/>
                </a:lnTo>
                <a:lnTo>
                  <a:pt x="237" y="418"/>
                </a:lnTo>
                <a:lnTo>
                  <a:pt x="231" y="419"/>
                </a:lnTo>
                <a:lnTo>
                  <a:pt x="226" y="419"/>
                </a:lnTo>
                <a:lnTo>
                  <a:pt x="221" y="420"/>
                </a:lnTo>
                <a:lnTo>
                  <a:pt x="215" y="420"/>
                </a:lnTo>
                <a:lnTo>
                  <a:pt x="210" y="420"/>
                </a:lnTo>
                <a:lnTo>
                  <a:pt x="205" y="420"/>
                </a:lnTo>
                <a:lnTo>
                  <a:pt x="199" y="420"/>
                </a:lnTo>
                <a:lnTo>
                  <a:pt x="194" y="419"/>
                </a:lnTo>
                <a:lnTo>
                  <a:pt x="189" y="419"/>
                </a:lnTo>
                <a:lnTo>
                  <a:pt x="183" y="418"/>
                </a:lnTo>
                <a:lnTo>
                  <a:pt x="178" y="418"/>
                </a:lnTo>
                <a:lnTo>
                  <a:pt x="173" y="417"/>
                </a:lnTo>
                <a:lnTo>
                  <a:pt x="168" y="416"/>
                </a:lnTo>
                <a:lnTo>
                  <a:pt x="163" y="415"/>
                </a:lnTo>
                <a:lnTo>
                  <a:pt x="158" y="413"/>
                </a:lnTo>
                <a:lnTo>
                  <a:pt x="153" y="412"/>
                </a:lnTo>
                <a:lnTo>
                  <a:pt x="148" y="411"/>
                </a:lnTo>
                <a:lnTo>
                  <a:pt x="143" y="409"/>
                </a:lnTo>
                <a:lnTo>
                  <a:pt x="138" y="407"/>
                </a:lnTo>
                <a:lnTo>
                  <a:pt x="133" y="405"/>
                </a:lnTo>
                <a:lnTo>
                  <a:pt x="128" y="403"/>
                </a:lnTo>
                <a:lnTo>
                  <a:pt x="124" y="401"/>
                </a:lnTo>
                <a:lnTo>
                  <a:pt x="119" y="399"/>
                </a:lnTo>
                <a:lnTo>
                  <a:pt x="114" y="397"/>
                </a:lnTo>
                <a:lnTo>
                  <a:pt x="110" y="395"/>
                </a:lnTo>
                <a:lnTo>
                  <a:pt x="106" y="392"/>
                </a:lnTo>
                <a:lnTo>
                  <a:pt x="101" y="390"/>
                </a:lnTo>
                <a:lnTo>
                  <a:pt x="97" y="387"/>
                </a:lnTo>
                <a:lnTo>
                  <a:pt x="93" y="384"/>
                </a:lnTo>
                <a:lnTo>
                  <a:pt x="88" y="381"/>
                </a:lnTo>
                <a:lnTo>
                  <a:pt x="84" y="378"/>
                </a:lnTo>
                <a:lnTo>
                  <a:pt x="80" y="375"/>
                </a:lnTo>
                <a:lnTo>
                  <a:pt x="76" y="372"/>
                </a:lnTo>
                <a:lnTo>
                  <a:pt x="73" y="369"/>
                </a:lnTo>
                <a:lnTo>
                  <a:pt x="69" y="365"/>
                </a:lnTo>
                <a:lnTo>
                  <a:pt x="65" y="362"/>
                </a:lnTo>
                <a:lnTo>
                  <a:pt x="62" y="358"/>
                </a:lnTo>
                <a:lnTo>
                  <a:pt x="58" y="355"/>
                </a:lnTo>
                <a:lnTo>
                  <a:pt x="55" y="351"/>
                </a:lnTo>
                <a:lnTo>
                  <a:pt x="51" y="347"/>
                </a:lnTo>
                <a:lnTo>
                  <a:pt x="48" y="344"/>
                </a:lnTo>
                <a:lnTo>
                  <a:pt x="45" y="340"/>
                </a:lnTo>
                <a:lnTo>
                  <a:pt x="42" y="336"/>
                </a:lnTo>
                <a:lnTo>
                  <a:pt x="39" y="332"/>
                </a:lnTo>
                <a:lnTo>
                  <a:pt x="36" y="327"/>
                </a:lnTo>
                <a:lnTo>
                  <a:pt x="33" y="323"/>
                </a:lnTo>
                <a:lnTo>
                  <a:pt x="30" y="319"/>
                </a:lnTo>
                <a:lnTo>
                  <a:pt x="28" y="314"/>
                </a:lnTo>
                <a:lnTo>
                  <a:pt x="25" y="310"/>
                </a:lnTo>
                <a:lnTo>
                  <a:pt x="23" y="306"/>
                </a:lnTo>
                <a:lnTo>
                  <a:pt x="21" y="301"/>
                </a:lnTo>
                <a:lnTo>
                  <a:pt x="19" y="296"/>
                </a:lnTo>
                <a:lnTo>
                  <a:pt x="17" y="292"/>
                </a:lnTo>
                <a:lnTo>
                  <a:pt x="15" y="287"/>
                </a:lnTo>
                <a:lnTo>
                  <a:pt x="13" y="282"/>
                </a:lnTo>
                <a:lnTo>
                  <a:pt x="11" y="277"/>
                </a:lnTo>
                <a:lnTo>
                  <a:pt x="9" y="272"/>
                </a:lnTo>
                <a:lnTo>
                  <a:pt x="8" y="267"/>
                </a:lnTo>
                <a:lnTo>
                  <a:pt x="7" y="262"/>
                </a:lnTo>
                <a:lnTo>
                  <a:pt x="5" y="257"/>
                </a:lnTo>
                <a:lnTo>
                  <a:pt x="4" y="252"/>
                </a:lnTo>
                <a:lnTo>
                  <a:pt x="3" y="247"/>
                </a:lnTo>
                <a:lnTo>
                  <a:pt x="2" y="242"/>
                </a:lnTo>
                <a:lnTo>
                  <a:pt x="2" y="237"/>
                </a:lnTo>
                <a:lnTo>
                  <a:pt x="1" y="231"/>
                </a:lnTo>
                <a:lnTo>
                  <a:pt x="1" y="226"/>
                </a:lnTo>
                <a:lnTo>
                  <a:pt x="0" y="221"/>
                </a:lnTo>
                <a:lnTo>
                  <a:pt x="0" y="215"/>
                </a:lnTo>
                <a:lnTo>
                  <a:pt x="0" y="210"/>
                </a:lnTo>
                <a:lnTo>
                  <a:pt x="0" y="205"/>
                </a:lnTo>
                <a:lnTo>
                  <a:pt x="0" y="199"/>
                </a:lnTo>
                <a:lnTo>
                  <a:pt x="1" y="194"/>
                </a:lnTo>
                <a:lnTo>
                  <a:pt x="1" y="189"/>
                </a:lnTo>
                <a:lnTo>
                  <a:pt x="2" y="183"/>
                </a:lnTo>
                <a:lnTo>
                  <a:pt x="2" y="178"/>
                </a:lnTo>
                <a:lnTo>
                  <a:pt x="3" y="173"/>
                </a:lnTo>
                <a:lnTo>
                  <a:pt x="4" y="168"/>
                </a:lnTo>
                <a:lnTo>
                  <a:pt x="5" y="163"/>
                </a:lnTo>
                <a:lnTo>
                  <a:pt x="7" y="158"/>
                </a:lnTo>
                <a:lnTo>
                  <a:pt x="8" y="153"/>
                </a:lnTo>
                <a:lnTo>
                  <a:pt x="9" y="148"/>
                </a:lnTo>
                <a:lnTo>
                  <a:pt x="11" y="143"/>
                </a:lnTo>
                <a:lnTo>
                  <a:pt x="13" y="138"/>
                </a:lnTo>
                <a:lnTo>
                  <a:pt x="15" y="133"/>
                </a:lnTo>
                <a:lnTo>
                  <a:pt x="17" y="128"/>
                </a:lnTo>
                <a:lnTo>
                  <a:pt x="19" y="124"/>
                </a:lnTo>
                <a:lnTo>
                  <a:pt x="21" y="119"/>
                </a:lnTo>
                <a:lnTo>
                  <a:pt x="23" y="114"/>
                </a:lnTo>
                <a:lnTo>
                  <a:pt x="25" y="110"/>
                </a:lnTo>
                <a:lnTo>
                  <a:pt x="28" y="106"/>
                </a:lnTo>
                <a:lnTo>
                  <a:pt x="30" y="101"/>
                </a:lnTo>
                <a:lnTo>
                  <a:pt x="33" y="97"/>
                </a:lnTo>
                <a:lnTo>
                  <a:pt x="36" y="93"/>
                </a:lnTo>
                <a:lnTo>
                  <a:pt x="39" y="88"/>
                </a:lnTo>
                <a:lnTo>
                  <a:pt x="42" y="84"/>
                </a:lnTo>
                <a:lnTo>
                  <a:pt x="45" y="80"/>
                </a:lnTo>
                <a:lnTo>
                  <a:pt x="48" y="76"/>
                </a:lnTo>
                <a:lnTo>
                  <a:pt x="51" y="73"/>
                </a:lnTo>
                <a:lnTo>
                  <a:pt x="55" y="69"/>
                </a:lnTo>
                <a:lnTo>
                  <a:pt x="58" y="65"/>
                </a:lnTo>
                <a:lnTo>
                  <a:pt x="62" y="62"/>
                </a:lnTo>
                <a:lnTo>
                  <a:pt x="65" y="58"/>
                </a:lnTo>
                <a:lnTo>
                  <a:pt x="69" y="55"/>
                </a:lnTo>
                <a:lnTo>
                  <a:pt x="73" y="51"/>
                </a:lnTo>
                <a:lnTo>
                  <a:pt x="76" y="48"/>
                </a:lnTo>
                <a:lnTo>
                  <a:pt x="80" y="45"/>
                </a:lnTo>
                <a:lnTo>
                  <a:pt x="84" y="42"/>
                </a:lnTo>
                <a:lnTo>
                  <a:pt x="87" y="40"/>
                </a:lnTo>
                <a:lnTo>
                  <a:pt x="333" y="40"/>
                </a:lnTo>
                <a:close/>
              </a:path>
            </a:pathLst>
          </a:custGeom>
          <a:solidFill>
            <a:srgbClr val="185FA5">
              <a:alpha val="55000"/>
            </a:srgbClr>
          </a:solidFill>
          <a:ln/>
        </p:spPr>
        <p:txBody>
          <a:bodyPr/>
          <a:p/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914400" y="1409700"/>
            <a:ext cx="10363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300">
                <a:solidFill>
                  <a:srgbClr val="85B7EB"/>
                </a:solidFill>
                <a:latin typeface="Microsoft YaHei"/>
                <a:ea typeface="Microsoft YaHei"/>
              </a:rPr>
              <a:t>第一章</a:t>
            </a:r>
            <a:endParaRPr/>
          </a:p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914400" y="1790700"/>
            <a:ext cx="10363200" cy="1600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0" b="1">
                <a:solidFill>
                  <a:srgbClr val="BA7517"/>
                </a:solidFill>
                <a:latin typeface="Georgia"/>
                <a:ea typeface="Georgia"/>
              </a:rPr>
              <a:t>01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914400" y="3600450"/>
            <a:ext cx="10363200" cy="6286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3150" b="1">
                <a:solidFill>
                  <a:srgbClr val="FFFFFF"/>
                </a:solidFill>
                <a:latin typeface="Microsoft YaHei"/>
                <a:ea typeface="Microsoft YaHei"/>
              </a:rPr>
              <a:t>你的资产，需要一次专业定价</a:t>
            </a:r>
            <a:endParaRPr/>
          </a:p>
        </p:txBody>
      </p:sp>
      <p:sp>
        <p:nvSpPr>
          <p:cNvPr id="163" name=""/>
          <p:cNvSpPr/>
          <p:nvPr/>
        </p:nvSpPr>
        <p:spPr>
          <a:xfrm rot="0" flipH="0" flipV="0">
            <a:off x="914400" y="4438650"/>
            <a:ext cx="723900" cy="38100"/>
          </a:xfrm>
          <a:prstGeom prst="rect">
            <a:avLst/>
          </a:prstGeom>
          <a:solidFill>
            <a:srgbClr val="BA7517"/>
          </a:solidFill>
          <a:ln/>
        </p:spPr>
        <p:txBody>
          <a:bodyPr/>
          <a:p/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914400" y="4686300"/>
            <a:ext cx="7239000" cy="762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500">
                <a:solidFill>
                  <a:srgbClr val="85B7EB"/>
                </a:solidFill>
                <a:latin typeface="Microsoft YaHei"/>
                <a:ea typeface="Microsoft YaHei"/>
              </a:rPr>
              <a:t>引种与选育沉淀下来的材料和技术权利，长期停在账外。这一章先说清它们到底是什么，再说值多少。</a:t>
            </a:r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914400" y="6372225"/>
            <a:ext cx="419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5B7EB"/>
                </a:solidFill>
                <a:latin typeface="Georgia"/>
                <a:ea typeface="Georgia"/>
              </a:rPr>
              <a:t>03 / 14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66" name="" descr="&lt;Slide style={{ width: 1280, height: 720, padding: '20px 72px', background: '#FFFFFF', flexDirection: 'column' }}&gt;&#10;    &lt;Box style={{ width: '100%', height: 112, flexDirection: 'row', alignItems: 'center', justifyContent: 'space-between' }}&gt;&#10;        &lt;Text style={{ fontFamily: 'Microsoft YaHei', fontSize: 36, fontWeight: 'bold', color: '#1A1A1A' }}&gt;引种三年，账上没有这项资产&lt;/Text&gt;&#10;        &lt;Text style={{ fontFamily: 'Microsoft YaHei', fontSize: 16, color: '#5A6672' }}&gt;问题不在投入，在于没被计量&lt;/Text&gt;&#10;    &lt;/Box&gt;&#10;    &lt;Box style={{ width: '100%', height: 528, flexDirection: 'column' }}&gt;&#10;        &lt;Image src='assets/field_scene.png' style={{ width: '100%', height: 250, objectFit: 'cover', borderRadius: 10 }} /&gt;&#10;        &lt;Box style={{ width: '100%', height: 200, flexDirection: 'row', gap: 20, marginTop: 18 }}&gt;&#10;            &lt;Box style={{ flex: 1, background: '#F4F6F9', borderRadius: 10, padding: '18px 20px', flexDirection: 'column' }}&gt;&#10;                &lt;Box style={{ flexDirection: 'row', alignItems: 'center', gap: 8, marginBottom: 10 }}&gt;&#10;                    &lt;Box style={{ width: 6, height: 18, background: '#BA7517' }} /&gt;&#10;                    &lt;Text style={{ fontFamily: 'Microsoft YaHei', fontSize: 14, color: '#BA7517', letterSpacing: 2 }}&gt;投入&lt;/Text&gt;&#10;                &lt;/Box&gt;&#10;                &lt;Text style={{ fontFamily: 'Microsoft YaHei', fontSize: 22, fontWeight: 'bold', color: '#0C447C', marginBottom: 10 }}&gt;真金白银加三年时间&lt;/Text&gt;&#10;                &lt;Text style={{ fontFamily: 'Microsoft YaHei', fontSize: 16, color: '#5A6672', lineHeight: 1.6 }}&gt;引种审批与隔离检疫、苗款与运输、田间试种与选育，都是实实在在发生过的支出，只是从未单独归集。&lt;/Text&gt;&#10;            &lt;/Box&gt;&#10;            &lt;Box style={{ flex: 1, background: '#F4F6F9', borderRadius: 10, padding: '18px 20px', flexDirection: 'column' }}&gt;&#10;                &lt;Box style={{ flexDirection: 'row', alignItems: 'center', gap: 8, marginBottom: 10 }}&gt;&#10;                    &lt;Box style={{ width: 6, height: 18, background: '#BA7517' }} /&gt;&#10;                    &lt;Text style={{ fontFamily: 'Microsoft YaHei', fontSize: 14, color: '#BA7517', letterSpacing: 2 }}&gt;账面&lt;/Text&gt;&#10;                &lt;/Box&gt;&#10;                &lt;Text style={{ fontFamily: 'Microsoft YaHei', fontSize: 22, fontWeight: 'bold', color: '#0C447C', marginBottom: 10 }}&gt;只记了地和设备&lt;/Text&gt;&#10;                &lt;Text style={{ fontFamily: 'Microsoft YaHei', fontSize: 16, color: '#5A6672', lineHeight: 1.6 }}&gt;账上通常只体现土地、大棚、冷库和苗木采购。品种本身、育种材料本身的价值，从来没被单独计量过。&lt;/Text&gt;&#10;            &lt;/Box&gt;&#10;            &lt;Box style={{ flex: 1, background: '#F4F6F9', borderRadius: 10, padding: '18px 20px', flexDirection: 'column' }}&gt;&#10;                &lt;Box style={{ flexDirection: 'row', alignItems: 'center', gap: 8, marginBottom: 10 }}&gt;&#10;                    &lt;Box style={{ width: 6, height: 18, background: '#BA7517' }} /&gt;&#10;                    &lt;Text style={{ fontFamily: 'Microsoft YaHei', fontSize: 14, color: '#BA7517', letterSpacing: 2 }}&gt;缺口&lt;/Text&gt;&#10;                &lt;/Box&gt;&#10;                &lt;Text style={{ fontFamily: 'Microsoft YaHei', fontSize: 22, fontWeight: 'bold', color: '#0C447C', marginBottom: 10 }}&gt;缺一份第三方意见&lt;/Text&gt;&#10;                &lt;Text style={{ fontFamily: 'Microsoft YaHei', fontSize: 16, color: '#5A6672', lineHeight: 1.6 }}&gt;没有它，枝条就只是枝条：银行不给授信，投资人不认作价，主管部门也无法据此认定你的投入。&lt;/Text&gt;&#10;            &lt;/Box&gt;&#10;        &lt;/Box&gt;&#10;        &lt;Box style={{ width: '100%', height: 44, flexDirection: 'row', alignItems: 'center', marginTop: 16, background: '#0C447C', borderRadius: 8, padding: '0 22px' }}&gt;&#10;            &lt;Text style={{ fontFamily: 'Microsoft YaHei', fontSize: 18, color: '#FFFFFF' }}&gt;投入是真的，价值也是真的——缺的只是把价值写进报表的那一份专业意见。&lt;/Text&gt;&#10;        &lt;/Box&gt;&#10;    &lt;/Box&gt;&#10;    &lt;Box style={{ width: '100%', height: 40, flexDirection: 'row', alignItems: 'center', justifyContent: 'space-between' }}&gt;&#10;        &lt;Text style={{ fontFamily: 'Microsoft YaHei', fontSize: 14, color: '#5A6672' }}&gt;海南国扬 · 无形资产评估专项&lt;/Text&gt;&#10;        &lt;Text style={{ fontFamily: 'Georgia', fontSize: 14, color: '#5A6672' }}&gt;04 / 1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685800" y="514350"/>
            <a:ext cx="44577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A1A1A"/>
                </a:solidFill>
                <a:latin typeface="Microsoft YaHei"/>
                <a:ea typeface="Microsoft YaHei"/>
              </a:rPr>
              <a:t>引种三年，账上没有这项资产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9525000" y="628650"/>
            <a:ext cx="1981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A6672"/>
                </a:solidFill>
                <a:latin typeface="Microsoft YaHei"/>
                <a:ea typeface="Microsoft YaHei"/>
              </a:rPr>
              <a:t>问题不在投入，在于没被计量</a:t>
            </a:r>
            <a:endParaRPr/>
          </a:p>
        </p:txBody>
      </p:sp>
      <p:pic>
        <p:nvPicPr>
          <p:cNvPr id="170" name=""/>
          <p:cNvPicPr>
            <a:picLocks noChangeAspect="1"/>
          </p:cNvPicPr>
          <p:nvPr/>
        </p:nvPicPr>
        <p:blipFill>
          <a:blip r:embed="rId1"/>
          <a:srcRect l="0" t="31648" r="0" b="31648"/>
          <a:stretch>
            <a:fillRect/>
          </a:stretch>
        </p:blipFill>
        <p:spPr>
          <a:xfrm rot="0" flipH="0" flipV="0">
            <a:off x="685800" y="1257300"/>
            <a:ext cx="10820400" cy="2381250"/>
          </a:xfrm>
          <a:prstGeom prst="roundRect">
            <a:avLst>
              <a:gd name="adj" fmla="val 4000"/>
            </a:avLst>
          </a:prstGeom>
          <a:ln/>
        </p:spPr>
      </p:pic>
      <p:sp>
        <p:nvSpPr>
          <p:cNvPr id="171" name=""/>
          <p:cNvSpPr/>
          <p:nvPr/>
        </p:nvSpPr>
        <p:spPr>
          <a:xfrm rot="0" flipH="0" flipV="0">
            <a:off x="685800" y="3810000"/>
            <a:ext cx="3476625" cy="190500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/>
        </p:spPr>
        <p:txBody>
          <a:bodyPr/>
          <a:p/>
        </p:txBody>
      </p:sp>
      <p:sp>
        <p:nvSpPr>
          <p:cNvPr id="172" name=""/>
          <p:cNvSpPr/>
          <p:nvPr/>
        </p:nvSpPr>
        <p:spPr>
          <a:xfrm rot="0" flipH="0" flipV="0">
            <a:off x="876300" y="3981450"/>
            <a:ext cx="57150" cy="171450"/>
          </a:xfrm>
          <a:prstGeom prst="rect">
            <a:avLst/>
          </a:prstGeom>
          <a:solidFill>
            <a:srgbClr val="BA7517"/>
          </a:solidFill>
          <a:ln/>
        </p:spPr>
        <p:txBody>
          <a:bodyPr/>
          <a:p/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1009650" y="3990975"/>
            <a:ext cx="304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BA7517"/>
                </a:solidFill>
                <a:latin typeface="Microsoft YaHei"/>
                <a:ea typeface="Microsoft YaHei"/>
              </a:rPr>
              <a:t>投入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876300" y="4248150"/>
            <a:ext cx="30956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C447C"/>
                </a:solidFill>
                <a:latin typeface="Microsoft YaHei"/>
                <a:ea typeface="Microsoft YaHei"/>
              </a:rPr>
              <a:t>真金白银加三年时间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876300" y="4600575"/>
            <a:ext cx="3095625" cy="885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5A6672"/>
                </a:solidFill>
                <a:latin typeface="Microsoft YaHei"/>
                <a:ea typeface="Microsoft YaHei"/>
              </a:rPr>
              <a:t>引种审批与隔离检疫、苗款与运输、田间试种与选育，都是实实在在发生过的支出，只是从未单独归集。</a:t>
            </a:r>
            <a:endParaRPr/>
          </a:p>
        </p:txBody>
      </p:sp>
      <p:sp>
        <p:nvSpPr>
          <p:cNvPr id="176" name=""/>
          <p:cNvSpPr/>
          <p:nvPr/>
        </p:nvSpPr>
        <p:spPr>
          <a:xfrm rot="0" flipH="0" flipV="0">
            <a:off x="4352925" y="3810000"/>
            <a:ext cx="3486150" cy="190500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/>
        </p:spPr>
        <p:txBody>
          <a:bodyPr/>
          <a:p/>
        </p:txBody>
      </p:sp>
      <p:sp>
        <p:nvSpPr>
          <p:cNvPr id="177" name=""/>
          <p:cNvSpPr/>
          <p:nvPr/>
        </p:nvSpPr>
        <p:spPr>
          <a:xfrm rot="0" flipH="0" flipV="0">
            <a:off x="4543425" y="3981450"/>
            <a:ext cx="57150" cy="171450"/>
          </a:xfrm>
          <a:prstGeom prst="rect">
            <a:avLst/>
          </a:prstGeom>
          <a:solidFill>
            <a:srgbClr val="BA7517"/>
          </a:solidFill>
          <a:ln/>
        </p:spPr>
        <p:txBody>
          <a:bodyPr/>
          <a:p/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4676775" y="3990975"/>
            <a:ext cx="304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BA7517"/>
                </a:solidFill>
                <a:latin typeface="Microsoft YaHei"/>
                <a:ea typeface="Microsoft YaHei"/>
              </a:rPr>
              <a:t>账面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4543425" y="4248150"/>
            <a:ext cx="31051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C447C"/>
                </a:solidFill>
                <a:latin typeface="Microsoft YaHei"/>
                <a:ea typeface="Microsoft YaHei"/>
              </a:rPr>
              <a:t>只记了地和设备</a:t>
            </a:r>
            <a:endParaRPr/>
          </a:p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4543425" y="4600575"/>
            <a:ext cx="3105150" cy="885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5A6672"/>
                </a:solidFill>
                <a:latin typeface="Microsoft YaHei"/>
                <a:ea typeface="Microsoft YaHei"/>
              </a:rPr>
              <a:t>账上通常只体现土地、大棚、冷库和苗木采购。品种本身、育种材料本身的价值，从来没被单独计量过。</a:t>
            </a:r>
            <a:endParaRPr/>
          </a:p>
        </p:txBody>
      </p:sp>
      <p:sp>
        <p:nvSpPr>
          <p:cNvPr id="181" name=""/>
          <p:cNvSpPr/>
          <p:nvPr/>
        </p:nvSpPr>
        <p:spPr>
          <a:xfrm rot="0" flipH="0" flipV="0">
            <a:off x="8029575" y="3810000"/>
            <a:ext cx="3476625" cy="190500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/>
        </p:spPr>
        <p:txBody>
          <a:bodyPr/>
          <a:p/>
        </p:txBody>
      </p:sp>
      <p:sp>
        <p:nvSpPr>
          <p:cNvPr id="182" name=""/>
          <p:cNvSpPr/>
          <p:nvPr/>
        </p:nvSpPr>
        <p:spPr>
          <a:xfrm rot="0" flipH="0" flipV="0">
            <a:off x="8220075" y="3981450"/>
            <a:ext cx="57150" cy="171450"/>
          </a:xfrm>
          <a:prstGeom prst="rect">
            <a:avLst/>
          </a:prstGeom>
          <a:solidFill>
            <a:srgbClr val="BA7517"/>
          </a:solidFill>
          <a:ln/>
        </p:spPr>
        <p:txBody>
          <a:bodyPr/>
          <a:p/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8353425" y="3990975"/>
            <a:ext cx="304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BA7517"/>
                </a:solidFill>
                <a:latin typeface="Microsoft YaHei"/>
                <a:ea typeface="Microsoft YaHei"/>
              </a:rPr>
              <a:t>缺口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8220075" y="4248150"/>
            <a:ext cx="30956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C447C"/>
                </a:solidFill>
                <a:latin typeface="Microsoft YaHei"/>
                <a:ea typeface="Microsoft YaHei"/>
              </a:rPr>
              <a:t>缺一份第三方意见</a:t>
            </a:r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8220075" y="4600575"/>
            <a:ext cx="3095625" cy="885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5A6672"/>
                </a:solidFill>
                <a:latin typeface="Microsoft YaHei"/>
                <a:ea typeface="Microsoft YaHei"/>
              </a:rPr>
              <a:t>没有它，枝条就只是枝条：银行不给授信，投资人不认作价，主管部门也无法据此认定你的投入。</a:t>
            </a:r>
            <a:endParaRPr/>
          </a:p>
        </p:txBody>
      </p:sp>
      <p:sp>
        <p:nvSpPr>
          <p:cNvPr id="186" name=""/>
          <p:cNvSpPr/>
          <p:nvPr/>
        </p:nvSpPr>
        <p:spPr>
          <a:xfrm rot="0" flipH="0" flipV="0">
            <a:off x="685800" y="5867400"/>
            <a:ext cx="10820400" cy="419100"/>
          </a:xfrm>
          <a:prstGeom prst="roundRect">
            <a:avLst>
              <a:gd name="adj" fmla="val 18182"/>
            </a:avLst>
          </a:prstGeom>
          <a:solidFill>
            <a:srgbClr val="0C447C"/>
          </a:solidFill>
          <a:ln/>
        </p:spPr>
        <p:txBody>
          <a:bodyPr/>
          <a:p/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895350" y="5972175"/>
            <a:ext cx="58578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FFFFFF"/>
                </a:solidFill>
                <a:latin typeface="Microsoft YaHei"/>
                <a:ea typeface="Microsoft YaHei"/>
              </a:rPr>
              <a:t>投入是真的，价值也是真的——缺的只是把价值写进报表的那一份专业意见。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685800" y="6400800"/>
            <a:ext cx="1714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A6672"/>
                </a:solidFill>
                <a:latin typeface="Microsoft YaHei"/>
                <a:ea typeface="Microsoft YaHei"/>
              </a:rPr>
              <a:t>海南国扬</a:t>
            </a:r>
            <a:r>
              <a:rPr lang="en-US" sz="1050">
                <a:solidFill>
                  <a:srgbClr val="5A6672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5A6672"/>
                </a:solidFill>
                <a:latin typeface="Microsoft YaHei"/>
                <a:ea typeface="Microsoft YaHei"/>
              </a:rPr>
              <a:t>无形资产评估专项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11087100" y="6400800"/>
            <a:ext cx="419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A6672"/>
                </a:solidFill>
                <a:latin typeface="Georgia"/>
                <a:ea typeface="Georgia"/>
              </a:rPr>
              <a:t>04 / 14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90" name="" descr="&lt;Slide style={{ width: 1280, height: 720, padding: '20px 72px', background: '#FFFFFF', flexDirection: 'column' }}&gt;&#10;    &lt;Box style={{ width: '100%', height: 112, flexDirection: 'row', alignItems: 'center', justifyContent: 'space-between' }}&gt;&#10;        &lt;Text style={{ fontFamily: 'Microsoft YaHei', fontSize: 36, fontWeight: 'bold', color: '#1A1A1A' }}&gt;先分清「评什么」：三类评估对象&lt;/Text&gt;&#10;        &lt;Text style={{ fontFamily: 'Microsoft YaHei', fontSize: 16, color: '#5A6672' }}&gt;这是所有工作真正的起点&lt;/Text&gt;&#10;    &lt;/Box&gt;&#10;    &lt;Box style={{ width: '100%', height: 528, flexDirection: 'row', gap: 34 }}&gt;&#10;        &lt;Box style={{ width: 722, height: '100%', flexDirection: 'column', gap: 24 }}&gt;&#10;            &lt;Box style={{ width: '100%', height: 160, background: '#F4F6F9', borderRadius: 10, padding: '0 22px', flexDirection: 'row', gap: 22, alignItems: 'center' }}&gt;&#10;                &lt;Box style={{ width: 210, flexDirection: 'column' }}&gt;&#10;                    &lt;Text style={{ fontFamily: 'Microsoft YaHei', fontSize: 24, fontWeight: 'bold', color: '#0C447C', marginBottom: 6 }}&gt;育种材料 / 品系&lt;/Text&gt;&#10;                    &lt;Text style={{ fontFamily: 'Microsoft YaHei', fontSize: 15, color: '#5A6672' }}&gt;物权，或技术秘密&lt;/Text&gt;&#10;                &lt;/Box&gt;&#10;                &lt;Box style={{ flex: 1, flexDirection: 'column', gap: 6 }}&gt;&#10;                    &lt;Text style={{ fontFamily: 'Microsoft YaHei', fontSize: 15, color: '#5A6672', lineHeight: 1.5 }}&gt;权属凭证：无官方证书，只有内部台账与引种、检疫记录&lt;/Text&gt;&#10;                    &lt;Text style={{ fontFamily: 'Microsoft YaHei', fontSize: 15, color: '#5A6672', lineHeight: 1.5 }}&gt;主要方法：成本法，辅以收益法参考&lt;/Text&gt;&#10;                &lt;/Box&gt;&#10;                &lt;Box style={{ width: 150, alignItems: 'center', justifyContent: 'center' }}&gt;&#10;                    &lt;Box style={{ width: 138, height: 34, borderRadius: 17, background: '#FFFFFF', alignItems: 'center', justifyContent: 'center' }}&gt;&#10;                        &lt;Text style={{ fontFamily: 'Microsoft YaHei', fontSize: 15, color: '#5A6672' }}&gt;一般不可质押&lt;/Text&gt;&#10;                    &lt;/Box&gt;&#10;                &lt;/Box&gt;&#10;            &lt;/Box&gt;&#10;            &lt;Box style={{ width: '100%', height: 160, background: '#F4F6F9', borderRadius: 10, padding: '0 22px', flexDirection: 'row', gap: 22, alignItems: 'center', border: '2px solid #BA7517' }}&gt;&#10;                &lt;Box style={{ width: 210, flexDirection: 'column' }}&gt;&#10;                    &lt;Text style={{ fontFamily: 'Microsoft YaHei', fontSize: 24, fontWeight: 'bold', color: '#0C447C', marginBottom: 6 }}&gt;植物新品种权&lt;/Text&gt;&#10;                    &lt;Text style={{ fontFamily: 'Microsoft YaHei', fontSize: 15, color: '#5A6672' }}&gt;法定知识产权&lt;/Text&gt;&#10;                &lt;/Box&gt;&#10;                &lt;Box style={{ flex: 1, flexDirection: 'column', gap: 6 }}&gt;&#10;                    &lt;Text style={{ fontFamily: 'Microsoft YaHei', fontSize: 15, color: '#5A6672', lineHeight: 1.5 }}&gt;权属凭证：《植物新品种权证书》，农业农村部颁发&lt;/Text&gt;&#10;                    &lt;Text style={{ fontFamily: 'Microsoft YaHei', fontSize: 15, color: '#5A6672', lineHeight: 1.5 }}&gt;主要方法：收益法为主，市场法、成本法验证&lt;/Text&gt;&#10;                &lt;/Box&gt;&#10;                &lt;Box style={{ width: 150, alignItems: 'center', justifyContent: 'center' }}&gt;&#10;                    &lt;Box style={{ width: 138, height: 34, borderRadius: 17, background: '#BA7517', alignItems: 'center', justifyContent: 'center' }}&gt;&#10;                        &lt;Text style={{ fontFamily: 'Microsoft YaHei', fontSize: 15, fontWeight: 'bold', color: '#FFFFFF' }}&gt;可质押&lt;/Text&gt;&#10;                    &lt;/Box&gt;&#10;                &lt;/Box&gt;&#10;            &lt;/Box&gt;&#10;            &lt;Box style={{ width: '100%', height: 160, background: '#F4F6F9', borderRadius: 10, padding: '0 22px', flexDirection: 'row', gap: 22, alignItems: 'center' }}&gt;&#10;                &lt;Box style={{ width: 210, flexDirection: 'column' }}&gt;&#10;                    &lt;Text style={{ fontFamily: 'Microsoft YaHei', fontSize: 24, fontWeight: 'bold', color: '#0C447C', marginBottom: 6 }}&gt;育种技术秘密 / 专利&lt;/Text&gt;&#10;                    &lt;Text style={{ fontFamily: 'Microsoft YaHei', fontSize: 15, color: '#5A6672' }}&gt;商业秘密，或专利权&lt;/Text&gt;&#10;                &lt;/Box&gt;&#10;                &lt;Box style={{ flex: 1, flexDirection: 'column', gap: 6 }}&gt;&#10;                    &lt;Text style={{ fontFamily: 'Microsoft YaHei', fontSize: 15, color: '#5A6672', lineHeight: 1.5 }}&gt;权属凭证：技术秘密无证书；专利有国家知识产权局证书&lt;/Text&gt;&#10;                    &lt;Text style={{ fontFamily: 'Microsoft YaHei', fontSize: 15, color: '#5A6672', lineHeight: 1.5 }}&gt;主要方法：秘密用成本法，专利用收益法&lt;/Text&gt;&#10;                &lt;/Box&gt;&#10;                &lt;Box style={{ width: 150, alignItems: 'center', justifyContent: 'center' }}&gt;&#10;                    &lt;Box style={{ width: 138, height: 34, borderRadius: 17, background: '#FFFFFF', alignItems: 'center', justifyContent: 'center' }}&gt;&#10;                        &lt;Text style={{ fontFamily: 'Microsoft YaHei', fontSize: 15, color: '#5A6672' }}&gt;秘密不可，专利可&lt;/Text&gt;&#10;                    &lt;/Box&gt;&#10;                &lt;/Box&gt;&#10;            &lt;/Box&gt;&#10;        &lt;/Box&gt;&#10;        &lt;Box style={{ width: 380, height: '100%', background: '#0C447C', borderRadius: 10, padding: '32px 26px', flexDirection: 'column', justifyContent: 'space-between' }}&gt;&#10;            &lt;Box style={{ flexDirection: 'column' }}&gt;&#10;                &lt;Text style={{ fontFamily: 'Microsoft YaHei', fontSize: 15, color: '#85B7EB', letterSpacing: 3, marginBottom: 16 }}&gt;关键判据&lt;/Text&gt;&#10;                &lt;Text style={{ fontFamily: 'Microsoft YaHei', fontSize: 28, fontWeight: 'bold', color: '#FFFFFF', lineHeight: 1.5 }}&gt;只有拿到证书的权利，才有法定质押通道&lt;/Text&gt;&#10;            &lt;/Box&gt;&#10;            &lt;Box style={{ flexDirection: 'column' }}&gt;&#10;                &lt;Box style={{ width: 48, height: 4, background: '#BA7517', marginBottom: 16 }} /&gt;&#10;                &lt;Text style={{ fontFamily: 'Microsoft YaHei', fontSize: 15, color: '#85B7EB', lineHeight: 1.7 }}&gt;没有品种权证书或专利证书，就没有质押登记机关与公示渠道。报告写得再漂亮，也进不了银行的授信流程。&lt;/Text&gt;&#10;            &lt;/Box&gt;&#10;        &lt;/Box&gt;&#10;    &lt;/Box&gt;&#10;    &lt;Box style={{ width: '100%', height: 40, flexDirection: 'row', alignItems: 'center', justifyContent: 'space-between' }}&gt;&#10;        &lt;Text style={{ fontFamily: 'Microsoft YaHei', fontSize: 14, color: '#5A6672' }}&gt;海南国扬 · 无形资产评估专项&lt;/Text&gt;&#10;        &lt;Text style={{ fontFamily: 'Georgia', fontSize: 14, color: '#5A6672' }}&gt;05 / 1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685800" y="514350"/>
            <a:ext cx="51435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A1A1A"/>
                </a:solidFill>
                <a:latin typeface="Microsoft YaHei"/>
                <a:ea typeface="Microsoft YaHei"/>
              </a:rPr>
              <a:t>先分清「评什么」：三类评估对象</a:t>
            </a:r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9829800" y="628650"/>
            <a:ext cx="1676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A6672"/>
                </a:solidFill>
                <a:latin typeface="Microsoft YaHei"/>
                <a:ea typeface="Microsoft YaHei"/>
              </a:rPr>
              <a:t>这是所有工作真正的起点</a:t>
            </a:r>
            <a:endParaRPr/>
          </a:p>
        </p:txBody>
      </p:sp>
      <p:sp>
        <p:nvSpPr>
          <p:cNvPr id="194" name=""/>
          <p:cNvSpPr/>
          <p:nvPr/>
        </p:nvSpPr>
        <p:spPr>
          <a:xfrm rot="0" flipH="0" flipV="0">
            <a:off x="685800" y="1257300"/>
            <a:ext cx="6877050" cy="1524000"/>
          </a:xfrm>
          <a:prstGeom prst="roundRect">
            <a:avLst>
              <a:gd name="adj" fmla="val 6250"/>
            </a:avLst>
          </a:prstGeom>
          <a:solidFill>
            <a:srgbClr val="F4F6F9"/>
          </a:solidFill>
          <a:ln/>
        </p:spPr>
        <p:txBody>
          <a:bodyPr/>
          <a:p/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895350" y="1771650"/>
            <a:ext cx="20002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C447C"/>
                </a:solidFill>
                <a:latin typeface="Microsoft YaHei"/>
                <a:ea typeface="Microsoft YaHei"/>
              </a:rPr>
              <a:t>育种材料</a:t>
            </a:r>
            <a:r>
              <a:rPr lang="en-US" sz="1800" b="1">
                <a:solidFill>
                  <a:srgbClr val="0C447C"/>
                </a:solidFill>
                <a:latin typeface="Microsoft YaHei"/>
                <a:ea typeface="Microsoft YaHei"/>
              </a:rPr>
              <a:t> / </a:t>
            </a:r>
            <a:r>
              <a:rPr lang="zh-CN" sz="1800" b="1">
                <a:solidFill>
                  <a:srgbClr val="0C447C"/>
                </a:solidFill>
                <a:latin typeface="Microsoft YaHei"/>
                <a:ea typeface="Microsoft YaHei"/>
              </a:rPr>
              <a:t>品系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895350" y="2105025"/>
            <a:ext cx="2000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A6672"/>
                </a:solidFill>
                <a:latin typeface="Microsoft YaHei"/>
                <a:ea typeface="Microsoft YaHei"/>
              </a:rPr>
              <a:t>物权，或技术秘密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3105150" y="1609725"/>
            <a:ext cx="26098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5A6672"/>
                </a:solidFill>
                <a:latin typeface="Microsoft YaHei"/>
                <a:ea typeface="Microsoft YaHei"/>
              </a:rPr>
              <a:t>权属凭证：无官方证书，只有内部台账与引种、检疫记录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3105150" y="2181225"/>
            <a:ext cx="26098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A6672"/>
                </a:solidFill>
                <a:latin typeface="Microsoft YaHei"/>
                <a:ea typeface="Microsoft YaHei"/>
              </a:rPr>
              <a:t>主要方法：成本法，辅以收益法参考</a:t>
            </a:r>
            <a:endParaRPr/>
          </a:p>
        </p:txBody>
      </p:sp>
      <p:sp>
        <p:nvSpPr>
          <p:cNvPr id="199" name=""/>
          <p:cNvSpPr/>
          <p:nvPr/>
        </p:nvSpPr>
        <p:spPr>
          <a:xfrm rot="0" flipH="0" flipV="0">
            <a:off x="5981700" y="1857375"/>
            <a:ext cx="131445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6210300" y="1933575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A6672"/>
                </a:solidFill>
                <a:latin typeface="Microsoft YaHei"/>
                <a:ea typeface="Microsoft YaHei"/>
              </a:rPr>
              <a:t>一般不可质押</a:t>
            </a:r>
            <a:endParaRPr/>
          </a:p>
        </p:txBody>
      </p:sp>
      <p:sp>
        <p:nvSpPr>
          <p:cNvPr id="201" name=""/>
          <p:cNvSpPr/>
          <p:nvPr/>
        </p:nvSpPr>
        <p:spPr>
          <a:xfrm rot="0" flipH="0" flipV="0">
            <a:off x="685800" y="3009900"/>
            <a:ext cx="6877050" cy="1524000"/>
          </a:xfrm>
          <a:prstGeom prst="roundRect">
            <a:avLst>
              <a:gd name="adj" fmla="val 6250"/>
            </a:avLst>
          </a:prstGeom>
          <a:solidFill>
            <a:srgbClr val="F4F6F9"/>
          </a:solidFill>
          <a:ln w="25400">
            <a:solidFill>
              <a:srgbClr val="BA7517"/>
            </a:solidFill>
            <a:prstDash val="solid"/>
          </a:ln>
        </p:spPr>
        <p:txBody>
          <a:bodyPr/>
          <a:p/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895350" y="3524250"/>
            <a:ext cx="20002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C447C"/>
                </a:solidFill>
                <a:latin typeface="Microsoft YaHei"/>
                <a:ea typeface="Microsoft YaHei"/>
              </a:rPr>
              <a:t>植物新品种权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895350" y="3857625"/>
            <a:ext cx="2000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A6672"/>
                </a:solidFill>
                <a:latin typeface="Microsoft YaHei"/>
                <a:ea typeface="Microsoft YaHei"/>
              </a:rPr>
              <a:t>法定知识产权</a:t>
            </a:r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3105150" y="3228975"/>
            <a:ext cx="26098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5A6672"/>
                </a:solidFill>
                <a:latin typeface="Microsoft YaHei"/>
                <a:ea typeface="Microsoft YaHei"/>
              </a:rPr>
              <a:t>权属凭证：《植物新品种权证书》，农业农村部颁发</a:t>
            </a:r>
            <a:endParaRPr/>
          </a:p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3105150" y="3800475"/>
            <a:ext cx="26098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5A6672"/>
                </a:solidFill>
                <a:latin typeface="Microsoft YaHei"/>
                <a:ea typeface="Microsoft YaHei"/>
              </a:rPr>
              <a:t>主要方法：收益法为主，市场法、成本法验证</a:t>
            </a:r>
            <a:endParaRPr/>
          </a:p>
        </p:txBody>
      </p:sp>
      <p:sp>
        <p:nvSpPr>
          <p:cNvPr id="206" name=""/>
          <p:cNvSpPr/>
          <p:nvPr/>
        </p:nvSpPr>
        <p:spPr>
          <a:xfrm rot="0" flipH="0" flipV="0">
            <a:off x="5981700" y="3609975"/>
            <a:ext cx="1314450" cy="323850"/>
          </a:xfrm>
          <a:prstGeom prst="roundRect">
            <a:avLst>
              <a:gd name="adj" fmla="val 50000"/>
            </a:avLst>
          </a:prstGeom>
          <a:solidFill>
            <a:srgbClr val="BA7517"/>
          </a:solidFill>
          <a:ln/>
        </p:spPr>
        <p:txBody>
          <a:bodyPr/>
          <a:p/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6429375" y="3686175"/>
            <a:ext cx="428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可质押</a:t>
            </a:r>
            <a:endParaRPr/>
          </a:p>
        </p:txBody>
      </p:sp>
      <p:sp>
        <p:nvSpPr>
          <p:cNvPr id="208" name=""/>
          <p:cNvSpPr/>
          <p:nvPr/>
        </p:nvSpPr>
        <p:spPr>
          <a:xfrm rot="0" flipH="0" flipV="0">
            <a:off x="685800" y="4762500"/>
            <a:ext cx="6877050" cy="1524000"/>
          </a:xfrm>
          <a:prstGeom prst="roundRect">
            <a:avLst>
              <a:gd name="adj" fmla="val 6250"/>
            </a:avLst>
          </a:prstGeom>
          <a:solidFill>
            <a:srgbClr val="F4F6F9"/>
          </a:solidFill>
          <a:ln/>
        </p:spPr>
        <p:txBody>
          <a:bodyPr/>
          <a:p/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895350" y="5133975"/>
            <a:ext cx="20002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C447C"/>
                </a:solidFill>
                <a:latin typeface="Microsoft YaHei"/>
                <a:ea typeface="Microsoft YaHei"/>
              </a:rPr>
              <a:t>育种技术秘密</a:t>
            </a:r>
            <a:r>
              <a:rPr lang="en-US" sz="1800" b="1">
                <a:solidFill>
                  <a:srgbClr val="0C447C"/>
                </a:solidFill>
                <a:latin typeface="Microsoft YaHei"/>
                <a:ea typeface="Microsoft YaHei"/>
              </a:rPr>
              <a:t> / </a:t>
            </a:r>
            <a:r>
              <a:rPr lang="zh-CN" sz="1800" b="1">
                <a:solidFill>
                  <a:srgbClr val="0C447C"/>
                </a:solidFill>
                <a:latin typeface="Microsoft YaHei"/>
                <a:ea typeface="Microsoft YaHei"/>
              </a:rPr>
              <a:t>专利</a:t>
            </a:r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895350" y="5743575"/>
            <a:ext cx="2000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A6672"/>
                </a:solidFill>
                <a:latin typeface="Microsoft YaHei"/>
                <a:ea typeface="Microsoft YaHei"/>
              </a:rPr>
              <a:t>商业秘密，或专利权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3105150" y="5114925"/>
            <a:ext cx="26098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5A6672"/>
                </a:solidFill>
                <a:latin typeface="Microsoft YaHei"/>
                <a:ea typeface="Microsoft YaHei"/>
              </a:rPr>
              <a:t>权属凭证：技术秘密无证书；专利有国家知识产权局证书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3105150" y="5686425"/>
            <a:ext cx="26098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A6672"/>
                </a:solidFill>
                <a:latin typeface="Microsoft YaHei"/>
                <a:ea typeface="Microsoft YaHei"/>
              </a:rPr>
              <a:t>主要方法：秘密用成本法，专利用收益法</a:t>
            </a:r>
            <a:endParaRPr/>
          </a:p>
        </p:txBody>
      </p:sp>
      <p:sp>
        <p:nvSpPr>
          <p:cNvPr id="213" name=""/>
          <p:cNvSpPr/>
          <p:nvPr/>
        </p:nvSpPr>
        <p:spPr>
          <a:xfrm rot="0" flipH="0" flipV="0">
            <a:off x="5981700" y="5362575"/>
            <a:ext cx="131445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6067425" y="5438775"/>
            <a:ext cx="1143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A6672"/>
                </a:solidFill>
                <a:latin typeface="Microsoft YaHei"/>
                <a:ea typeface="Microsoft YaHei"/>
              </a:rPr>
              <a:t>秘密不可，专利可</a:t>
            </a:r>
            <a:endParaRPr/>
          </a:p>
        </p:txBody>
      </p:sp>
      <p:sp>
        <p:nvSpPr>
          <p:cNvPr id="215" name=""/>
          <p:cNvSpPr/>
          <p:nvPr/>
        </p:nvSpPr>
        <p:spPr>
          <a:xfrm rot="0" flipH="0" flipV="0">
            <a:off x="7886700" y="1257300"/>
            <a:ext cx="3619500" cy="5029200"/>
          </a:xfrm>
          <a:prstGeom prst="roundRect">
            <a:avLst>
              <a:gd name="adj" fmla="val 2632"/>
            </a:avLst>
          </a:prstGeom>
          <a:solidFill>
            <a:srgbClr val="0C447C"/>
          </a:solidFill>
          <a:ln/>
        </p:spPr>
        <p:txBody>
          <a:bodyPr/>
          <a:p/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8134350" y="1562100"/>
            <a:ext cx="3124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225">
                <a:solidFill>
                  <a:srgbClr val="85B7EB"/>
                </a:solidFill>
                <a:latin typeface="Microsoft YaHei"/>
                <a:ea typeface="Microsoft YaHei"/>
              </a:rPr>
              <a:t>关键判据</a:t>
            </a:r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8134350" y="1885950"/>
            <a:ext cx="3124200" cy="962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2100" b="1">
                <a:solidFill>
                  <a:srgbClr val="FFFFFF"/>
                </a:solidFill>
                <a:latin typeface="Microsoft YaHei"/>
                <a:ea typeface="Microsoft YaHei"/>
              </a:rPr>
              <a:t>只有拿到证书的权利，才有法定质押通道</a:t>
            </a:r>
            <a:endParaRPr/>
          </a:p>
        </p:txBody>
      </p:sp>
      <p:sp>
        <p:nvSpPr>
          <p:cNvPr id="218" name=""/>
          <p:cNvSpPr/>
          <p:nvPr/>
        </p:nvSpPr>
        <p:spPr>
          <a:xfrm rot="0" flipH="0" flipV="0">
            <a:off x="8134350" y="4914900"/>
            <a:ext cx="457200" cy="38100"/>
          </a:xfrm>
          <a:prstGeom prst="rect">
            <a:avLst/>
          </a:prstGeom>
          <a:solidFill>
            <a:srgbClr val="BA7517"/>
          </a:solidFill>
          <a:ln/>
        </p:spPr>
        <p:txBody>
          <a:bodyPr/>
          <a:p/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8134350" y="5105400"/>
            <a:ext cx="3124200" cy="876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85B7EB"/>
                </a:solidFill>
                <a:latin typeface="Microsoft YaHei"/>
                <a:ea typeface="Microsoft YaHei"/>
              </a:rPr>
              <a:t>没有品种权证书或专利证书，就没有质押登记机关与公示渠道。报告写得再漂亮，也进不了银行的授信流程。</a:t>
            </a:r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685800" y="6400800"/>
            <a:ext cx="1714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A6672"/>
                </a:solidFill>
                <a:latin typeface="Microsoft YaHei"/>
                <a:ea typeface="Microsoft YaHei"/>
              </a:rPr>
              <a:t>海南国扬</a:t>
            </a:r>
            <a:r>
              <a:rPr lang="en-US" sz="1050">
                <a:solidFill>
                  <a:srgbClr val="5A6672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5A6672"/>
                </a:solidFill>
                <a:latin typeface="Microsoft YaHei"/>
                <a:ea typeface="Microsoft YaHei"/>
              </a:rPr>
              <a:t>无形资产评估专项</a:t>
            </a:r>
            <a:endParaRPr/>
          </a:p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11087100" y="6400800"/>
            <a:ext cx="419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A6672"/>
                </a:solidFill>
                <a:latin typeface="Georgia"/>
                <a:ea typeface="Georgia"/>
              </a:rPr>
              <a:t>05 / 14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222" name="" descr="&lt;Slide style={{ width: 1280, height: 720, padding: '20px 72px', background: '#FFFFFF', flexDirection: 'column' }}&gt;&#10;    &lt;Box style={{ width: '100%', height: 112, flexDirection: 'row', alignItems: 'center', justifyContent: 'space-between' }}&gt;&#10;        &lt;Text style={{ fontFamily: 'Microsoft YaHei', fontSize: 36, fontWeight: 'bold', color: '#1A1A1A' }}&gt;一张证书，决定能不能质押&lt;/Text&gt;&#10;        &lt;Text style={{ fontFamily: 'Microsoft YaHei', fontSize: 16, color: '#5A6672' }}&gt;好消息：拿证比过去快得多&lt;/Text&gt;&#10;    &lt;/Box&gt;&#10;    &lt;Box style={{ width: '100%', height: 528, flexDirection: 'column' }}&gt;&#10;        &lt;Box style={{ width: '100%', height: 230, flexDirection: 'row', alignItems: 'center', gap: 40 }}&gt;&#10;            &lt;Box style={{ flexDirection: 'row', alignItems: 'flex-end', gap: 16 }}&gt;&#10;                &lt;Text style={{ fontFamily: 'Georgia', fontSize: 130, fontWeight: 'bold', color: '#BA7517', lineHeight: 1.0 }}&gt;3&lt;/Text&gt;&#10;                &lt;Text style={{ fontFamily: 'Microsoft YaHei', fontSize: 38, fontWeight: 'bold', color: '#0C447C', lineHeight: 1.3, marginBottom: 14 }}&gt;个工作日&lt;/Text&gt;&#10;            &lt;/Box&gt;&#10;            &lt;Box style={{ flex: 1, height: 206, borderLeft: '4px solid #0C447C', paddingLeft: 28, flexDirection: 'column', justifyContent: 'center' }}&gt;&#10;                &lt;Text style={{ fontFamily: 'Microsoft YaHei', fontSize: 20, color: '#1A1A1A', lineHeight: 1.6, marginBottom: 12 }}&gt;品种权受理时间，过去是 &lt;span style={{ color: '#5A6672' }}&gt;30 天&lt;/span&gt;&lt;/Text&gt;&#10;                &lt;Text style={{ fontFamily: 'Microsoft YaHei', fontSize: 20, color: '#1A1A1A', lineHeight: 1.6, marginBottom: 14 }}&gt;海南设立全国唯一省级农业植物新品种审查协作中心后，初审也由 6 个月缩短到 3 个月，审查效率提升 50% 以上。&lt;/Text&gt;&#10;                &lt;Text style={{ fontFamily: 'Microsoft YaHei', fontSize: 20, fontWeight: 'bold', color: '#BA7517', lineHeight: 1.5 }}&gt;确权周期一旦可控，评估与融资的时间表才排得出来。&lt;/Text&gt;&#10;            &lt;/Box&gt;&#10;        &lt;/Box&gt;&#10;        &lt;Box style={{ width: '100%', height: 274, flexDirection: 'row', gap: 24, marginTop: 24 }}&gt;&#10;            &lt;Box style={{ flex: 1.15, background: '#F4F6F9', borderRadius: 10, padding: '24px 26px', flexDirection: 'column' }}&gt;&#10;                &lt;Text style={{ fontFamily: 'Microsoft YaHei', fontSize: 22, fontWeight: 'bold', color: '#0C447C', marginBottom: 14 }}&gt;办理端：两个测试并成一次&lt;/Text&gt;&#10;                &lt;Text style={{ fontFamily: 'Microsoft YaHei', fontSize: 17, color: '#5A6672', lineHeight: 1.7 }}&gt;海南率先推行进境植物品种隔离检疫与 DUS 测试同步开展。一次田间种植，可同时出具《疫情监测报告》与《DUS 测试报告》，直接省下待测品种一个生育周期的等待时间。&lt;/Text&gt;&#10;            &lt;/Box&gt;&#10;            &lt;Box style={{ flex: 1, background: '#0C447C', borderRadius: 10, padding: '24px 26px', flexDirection: 'column' }}&gt;&#10;                &lt;Text style={{ fontFamily: 'Microsoft YaHei', fontSize: 22, fontWeight: 'bold', color: '#FFFFFF', marginBottom: 14 }}&gt;登记端：两处并行办理&lt;/Text&gt;&#10;                &lt;Text style={{ fontFamily: 'Microsoft YaHei', fontSize: 17, color: '#85B7EB', lineHeight: 1.7 }}&gt;质押备案在农业农村部植物新品种保护办公室办理，取得《质押备案说明》；同期在人民银行动产融资统一登记公示系统登记。两处并行，质押权才算有效。&lt;/Text&gt;&#10;            &lt;/Box&gt;&#10;        &lt;/Box&gt;&#10;    &lt;/Box&gt;&#10;    &lt;Box style={{ width: '100%', height: 40, flexDirection: 'row', alignItems: 'center', justifyContent: 'space-between' }}&gt;&#10;        &lt;Text style={{ fontFamily: 'Microsoft YaHei', fontSize: 14, color: '#5A6672' }}&gt;海南国扬 · 无形资产评估专项&lt;/Text&gt;&#10;        &lt;Text style={{ fontFamily: 'Georgia', fontSize: 14, color: '#5A6672' }}&gt;06 / 1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685800" y="514350"/>
            <a:ext cx="41148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A1A1A"/>
                </a:solidFill>
                <a:latin typeface="Microsoft YaHei"/>
                <a:ea typeface="Microsoft YaHei"/>
              </a:rPr>
              <a:t>一张证书，决定能不能质押</a:t>
            </a:r>
            <a:endParaRPr/>
          </a:p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9677400" y="628650"/>
            <a:ext cx="1828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A6672"/>
                </a:solidFill>
                <a:latin typeface="Microsoft YaHei"/>
                <a:ea typeface="Microsoft YaHei"/>
              </a:rPr>
              <a:t>好消息：拿证比过去快得多</a:t>
            </a:r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685800" y="1609725"/>
            <a:ext cx="781050" cy="1485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0" b="1">
                <a:solidFill>
                  <a:srgbClr val="BA7517"/>
                </a:solidFill>
                <a:latin typeface="Georgia"/>
                <a:ea typeface="Georgia"/>
              </a:rPr>
              <a:t>3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1619250" y="2390775"/>
            <a:ext cx="1447800" cy="5715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850" b="1">
                <a:solidFill>
                  <a:srgbClr val="0C447C"/>
                </a:solidFill>
                <a:latin typeface="Microsoft YaHei"/>
                <a:ea typeface="Microsoft YaHei"/>
              </a:rPr>
              <a:t>个工作日</a:t>
            </a:r>
            <a:endParaRPr/>
          </a:p>
        </p:txBody>
      </p:sp>
      <p:sp>
        <p:nvSpPr>
          <p:cNvPr id="228" name=""/>
          <p:cNvSpPr/>
          <p:nvPr/>
        </p:nvSpPr>
        <p:spPr>
          <a:xfrm rot="0" flipH="0" flipV="0">
            <a:off x="3448050" y="1371600"/>
            <a:ext cx="8096250" cy="1962150"/>
          </a:xfrm>
          <a:custGeom>
            <a:pathLst>
              <a:path w="850" h="206">
                <a:moveTo>
                  <a:pt x="0" y="0"/>
                </a:moveTo>
                <a:lnTo>
                  <a:pt x="4" y="0"/>
                </a:lnTo>
                <a:lnTo>
                  <a:pt x="4" y="206"/>
                </a:lnTo>
                <a:lnTo>
                  <a:pt x="0" y="206"/>
                </a:lnTo>
                <a:close/>
              </a:path>
            </a:pathLst>
          </a:custGeom>
          <a:solidFill>
            <a:srgbClr val="0C447C"/>
          </a:solidFill>
          <a:ln/>
        </p:spPr>
        <p:txBody>
          <a:bodyPr/>
          <a:p/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3752850" y="1504950"/>
            <a:ext cx="7753350" cy="3714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500">
                <a:solidFill>
                  <a:srgbClr val="1A1A1A"/>
                </a:solidFill>
                <a:latin typeface="Microsoft YaHei"/>
                <a:ea typeface="Microsoft YaHei"/>
              </a:rPr>
              <a:t>品种权受理时间，过去是</a:t>
            </a:r>
            <a:r>
              <a:rPr lang="en-US" sz="1500">
                <a:solidFill>
                  <a:srgbClr val="1A1A1A"/>
                </a:solidFill>
                <a:latin typeface="Microsoft YaHei"/>
                <a:ea typeface="Microsoft YaHei"/>
              </a:rPr>
              <a:t> </a:t>
            </a:r>
            <a:r>
              <a:rPr lang="en-US" sz="1500">
                <a:solidFill>
                  <a:srgbClr val="5A6672"/>
                </a:solidFill>
                <a:latin typeface="Microsoft YaHei"/>
                <a:ea typeface="Microsoft YaHei"/>
              </a:rPr>
              <a:t>30 </a:t>
            </a:r>
            <a:r>
              <a:rPr lang="zh-CN" sz="1500">
                <a:solidFill>
                  <a:srgbClr val="5A6672"/>
                </a:solidFill>
                <a:latin typeface="Microsoft YaHei"/>
                <a:ea typeface="Microsoft YaHei"/>
              </a:rPr>
              <a:t>天</a:t>
            </a:r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3752850" y="1990725"/>
            <a:ext cx="7753350" cy="733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500">
                <a:solidFill>
                  <a:srgbClr val="1A1A1A"/>
                </a:solidFill>
                <a:latin typeface="Microsoft YaHei"/>
                <a:ea typeface="Microsoft YaHei"/>
              </a:rPr>
              <a:t>海南设立全国唯一省级农业植物新品种审查协作中心后，初审也由</a:t>
            </a:r>
            <a:r>
              <a:rPr lang="en-US" sz="1500">
                <a:solidFill>
                  <a:srgbClr val="1A1A1A"/>
                </a:solidFill>
                <a:latin typeface="Microsoft YaHei"/>
                <a:ea typeface="Microsoft YaHei"/>
              </a:rPr>
              <a:t> 6 </a:t>
            </a:r>
            <a:r>
              <a:rPr lang="zh-CN" sz="1500">
                <a:solidFill>
                  <a:srgbClr val="1A1A1A"/>
                </a:solidFill>
                <a:latin typeface="Microsoft YaHei"/>
                <a:ea typeface="Microsoft YaHei"/>
              </a:rPr>
              <a:t>个月缩短到</a:t>
            </a:r>
            <a:r>
              <a:rPr lang="en-US" sz="1500">
                <a:solidFill>
                  <a:srgbClr val="1A1A1A"/>
                </a:solidFill>
                <a:latin typeface="Microsoft YaHei"/>
                <a:ea typeface="Microsoft YaHei"/>
              </a:rPr>
              <a:t> 3 </a:t>
            </a:r>
            <a:r>
              <a:rPr lang="zh-CN" sz="1500">
                <a:solidFill>
                  <a:srgbClr val="1A1A1A"/>
                </a:solidFill>
                <a:latin typeface="Microsoft YaHei"/>
                <a:ea typeface="Microsoft YaHei"/>
              </a:rPr>
              <a:t>个月，审查效率提升</a:t>
            </a:r>
            <a:r>
              <a:rPr lang="en-US" sz="1500">
                <a:solidFill>
                  <a:srgbClr val="1A1A1A"/>
                </a:solidFill>
                <a:latin typeface="Microsoft YaHei"/>
                <a:ea typeface="Microsoft YaHei"/>
              </a:rPr>
              <a:t> 50% </a:t>
            </a:r>
            <a:r>
              <a:rPr lang="zh-CN" sz="1500">
                <a:solidFill>
                  <a:srgbClr val="1A1A1A"/>
                </a:solidFill>
                <a:latin typeface="Microsoft YaHei"/>
                <a:ea typeface="Microsoft YaHei"/>
              </a:rPr>
              <a:t>以上。</a:t>
            </a:r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3752850" y="2857500"/>
            <a:ext cx="7753350" cy="342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00" b="1">
                <a:solidFill>
                  <a:srgbClr val="BA7517"/>
                </a:solidFill>
                <a:latin typeface="Microsoft YaHei"/>
                <a:ea typeface="Microsoft YaHei"/>
              </a:rPr>
              <a:t>确权周期一旦可控，评估与融资的时间表才排得出来。</a:t>
            </a:r>
            <a:endParaRPr/>
          </a:p>
        </p:txBody>
      </p:sp>
      <p:sp>
        <p:nvSpPr>
          <p:cNvPr id="232" name=""/>
          <p:cNvSpPr/>
          <p:nvPr/>
        </p:nvSpPr>
        <p:spPr>
          <a:xfrm rot="0" flipH="0" flipV="0">
            <a:off x="685800" y="3676650"/>
            <a:ext cx="5667375" cy="2609850"/>
          </a:xfrm>
          <a:prstGeom prst="roundRect">
            <a:avLst>
              <a:gd name="adj" fmla="val 3650"/>
            </a:avLst>
          </a:prstGeom>
          <a:solidFill>
            <a:srgbClr val="F4F6F9"/>
          </a:solidFill>
          <a:ln/>
        </p:spPr>
        <p:txBody>
          <a:bodyPr/>
          <a:p/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933450" y="3905250"/>
            <a:ext cx="51720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C447C"/>
                </a:solidFill>
                <a:latin typeface="Microsoft YaHei"/>
                <a:ea typeface="Microsoft YaHei"/>
              </a:rPr>
              <a:t>办理端：两个测试并成一次</a:t>
            </a:r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933450" y="4295775"/>
            <a:ext cx="5172075" cy="1000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75">
                <a:solidFill>
                  <a:srgbClr val="5A6672"/>
                </a:solidFill>
                <a:latin typeface="Microsoft YaHei"/>
                <a:ea typeface="Microsoft YaHei"/>
              </a:rPr>
              <a:t>海南率先推行进境植物品种隔离检疫与</a:t>
            </a:r>
            <a:r>
              <a:rPr lang="en-US" sz="1275">
                <a:solidFill>
                  <a:srgbClr val="5A6672"/>
                </a:solidFill>
                <a:latin typeface="Microsoft YaHei"/>
                <a:ea typeface="Microsoft YaHei"/>
              </a:rPr>
              <a:t> DUS </a:t>
            </a:r>
            <a:r>
              <a:rPr lang="zh-CN" sz="1275">
                <a:solidFill>
                  <a:srgbClr val="5A6672"/>
                </a:solidFill>
                <a:latin typeface="Microsoft YaHei"/>
                <a:ea typeface="Microsoft YaHei"/>
              </a:rPr>
              <a:t>测试同步开展。一次田间种植，可同时出具《疫情监测报告》与《</a:t>
            </a:r>
            <a:r>
              <a:rPr lang="en-US" sz="1275">
                <a:solidFill>
                  <a:srgbClr val="5A6672"/>
                </a:solidFill>
                <a:latin typeface="Microsoft YaHei"/>
                <a:ea typeface="Microsoft YaHei"/>
              </a:rPr>
              <a:t>DUS </a:t>
            </a:r>
            <a:r>
              <a:rPr lang="zh-CN" sz="1275">
                <a:solidFill>
                  <a:srgbClr val="5A6672"/>
                </a:solidFill>
                <a:latin typeface="Microsoft YaHei"/>
                <a:ea typeface="Microsoft YaHei"/>
              </a:rPr>
              <a:t>测试报告》，直接省下待测品种一个生育周期的等待时间。</a:t>
            </a:r>
            <a:endParaRPr/>
          </a:p>
        </p:txBody>
      </p:sp>
      <p:sp>
        <p:nvSpPr>
          <p:cNvPr id="235" name=""/>
          <p:cNvSpPr/>
          <p:nvPr/>
        </p:nvSpPr>
        <p:spPr>
          <a:xfrm rot="0" flipH="0" flipV="0">
            <a:off x="6581775" y="3676650"/>
            <a:ext cx="4924425" cy="2609850"/>
          </a:xfrm>
          <a:prstGeom prst="roundRect">
            <a:avLst>
              <a:gd name="adj" fmla="val 3650"/>
            </a:avLst>
          </a:prstGeom>
          <a:solidFill>
            <a:srgbClr val="0C447C"/>
          </a:solidFill>
          <a:ln/>
        </p:spPr>
        <p:txBody>
          <a:bodyPr/>
          <a:p/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6829425" y="3905250"/>
            <a:ext cx="44291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登记端：两处并行办理</a:t>
            </a:r>
            <a:endParaRPr/>
          </a:p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6829425" y="4295775"/>
            <a:ext cx="4429125" cy="1000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75">
                <a:solidFill>
                  <a:srgbClr val="85B7EB"/>
                </a:solidFill>
                <a:latin typeface="Microsoft YaHei"/>
                <a:ea typeface="Microsoft YaHei"/>
              </a:rPr>
              <a:t>质押备案在农业农村部植物新品种保护办公室办理，取得《质押备案说明》；同期在人民银行动产融资统一登记公示系统登记。两处并行，质押权才算有效。</a:t>
            </a:r>
            <a:endParaRPr/>
          </a:p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685800" y="6400800"/>
            <a:ext cx="1714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A6672"/>
                </a:solidFill>
                <a:latin typeface="Microsoft YaHei"/>
                <a:ea typeface="Microsoft YaHei"/>
              </a:rPr>
              <a:t>海南国扬</a:t>
            </a:r>
            <a:r>
              <a:rPr lang="en-US" sz="1050">
                <a:solidFill>
                  <a:srgbClr val="5A6672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5A6672"/>
                </a:solidFill>
                <a:latin typeface="Microsoft YaHei"/>
                <a:ea typeface="Microsoft YaHei"/>
              </a:rPr>
              <a:t>无形资产评估专项</a:t>
            </a:r>
            <a:endParaRPr/>
          </a:p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11087100" y="6400800"/>
            <a:ext cx="419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A6672"/>
                </a:solidFill>
                <a:latin typeface="Georgia"/>
                <a:ea typeface="Georgia"/>
              </a:rPr>
              <a:t>06 / 14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240" name="" descr="&lt;Slide style={{ width: 1280, height: 720, padding: 0, position: 'relative', background: '#0C447C', overflow: 'hidden' }}&gt;&#10;    &lt;Box style={{ position: 'absolute', top: 0, left: 0, width: 14, height: 720, background: '#BA7517' }} /&gt;&#10;    &lt;Box style={{ position: 'absolute', right: -60, top: -40, width: 420, height: 420, borderRadius: 210, background: 'rgba(24, 95, 165, 0.55)' }} /&gt;&#10;    &lt;Box style={{ position: 'relative', zIndex: 2, width: 1280, height: 720, padding: '0 96px', flexDirection: 'column', justifyContent: 'center' }}&gt;&#10;        &lt;Text style={{ fontFamily: 'Microsoft YaHei', fontSize: 16, color: '#85B7EB', letterSpacing: 4, marginBottom: 20 }}&gt;第二章&lt;/Text&gt;&#10;        &lt;Text style={{ fontFamily: 'Georgia', fontSize: 140, fontWeight: 'bold', color: '#BA7517', lineHeight: 1.0, marginBottom: 22 }}&gt;02&lt;/Text&gt;&#10;        &lt;Text style={{ fontFamily: 'Microsoft YaHei', fontSize: 42, fontWeight: 'bold', color: '#FFFFFF', lineHeight: 1.3, marginBottom: 22 }}&gt;这条路，已经有人走通了&lt;/Text&gt;&#10;        &lt;Box style={{ width: 76, height: 4, background: '#BA7517', marginBottom: 22 }} /&gt;&#10;        &lt;Text style={{ fontFamily: 'Microsoft YaHei', fontSize: 20, color: '#85B7EB', lineHeight: 1.65, width: 780 }}&gt;2026 年，四家银行以植物新品种权作质押，真金白银放出了从 300 万到 3 亿元的贷款。评估报告，是这条链条的第一步。&lt;/Text&gt;&#10;    &lt;/Box&gt;&#10;    &lt;Box style={{ position: 'absolute', left: 96, bottom: 34, zIndex: 2 }}&gt;&#10;        &lt;Text style={{ fontFamily: 'Georgia', fontSize: 14, color: '#85B7EB' }}&gt;07 / 1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C447C"/>
          </a:solidFill>
          <a:ln/>
        </p:spPr>
        <p:txBody>
          <a:bodyPr/>
          <a:p/>
        </p:txBody>
      </p:sp>
      <p:sp>
        <p:nvSpPr>
          <p:cNvPr id="242" name=""/>
          <p:cNvSpPr/>
          <p:nvPr/>
        </p:nvSpPr>
        <p:spPr>
          <a:xfrm rot="0" flipH="0" flipV="0">
            <a:off x="0" y="0"/>
            <a:ext cx="133350" cy="6858000"/>
          </a:xfrm>
          <a:prstGeom prst="rect">
            <a:avLst/>
          </a:prstGeom>
          <a:solidFill>
            <a:srgbClr val="BA7517"/>
          </a:solidFill>
          <a:ln/>
        </p:spPr>
        <p:txBody>
          <a:bodyPr/>
          <a:p/>
        </p:txBody>
      </p:sp>
      <p:sp>
        <p:nvSpPr>
          <p:cNvPr id="243" name=""/>
          <p:cNvSpPr/>
          <p:nvPr/>
        </p:nvSpPr>
        <p:spPr>
          <a:xfrm rot="0" flipH="0" flipV="0">
            <a:off x="8763000" y="-381000"/>
            <a:ext cx="4000500" cy="4000500"/>
          </a:xfrm>
          <a:custGeom>
            <a:pathLst>
              <a:path w="420" h="420">
                <a:moveTo>
                  <a:pt x="336" y="42"/>
                </a:moveTo>
                <a:lnTo>
                  <a:pt x="340" y="45"/>
                </a:lnTo>
                <a:lnTo>
                  <a:pt x="344" y="48"/>
                </a:lnTo>
                <a:lnTo>
                  <a:pt x="347" y="51"/>
                </a:lnTo>
                <a:lnTo>
                  <a:pt x="351" y="55"/>
                </a:lnTo>
                <a:lnTo>
                  <a:pt x="355" y="58"/>
                </a:lnTo>
                <a:lnTo>
                  <a:pt x="358" y="62"/>
                </a:lnTo>
                <a:lnTo>
                  <a:pt x="360" y="63"/>
                </a:lnTo>
                <a:lnTo>
                  <a:pt x="360" y="357"/>
                </a:lnTo>
                <a:lnTo>
                  <a:pt x="358" y="358"/>
                </a:lnTo>
                <a:lnTo>
                  <a:pt x="355" y="362"/>
                </a:lnTo>
                <a:lnTo>
                  <a:pt x="351" y="365"/>
                </a:lnTo>
                <a:lnTo>
                  <a:pt x="347" y="369"/>
                </a:lnTo>
                <a:lnTo>
                  <a:pt x="344" y="372"/>
                </a:lnTo>
                <a:lnTo>
                  <a:pt x="340" y="375"/>
                </a:lnTo>
                <a:lnTo>
                  <a:pt x="336" y="378"/>
                </a:lnTo>
                <a:lnTo>
                  <a:pt x="332" y="381"/>
                </a:lnTo>
                <a:lnTo>
                  <a:pt x="327" y="384"/>
                </a:lnTo>
                <a:lnTo>
                  <a:pt x="323" y="387"/>
                </a:lnTo>
                <a:lnTo>
                  <a:pt x="319" y="390"/>
                </a:lnTo>
                <a:lnTo>
                  <a:pt x="314" y="392"/>
                </a:lnTo>
                <a:lnTo>
                  <a:pt x="310" y="395"/>
                </a:lnTo>
                <a:lnTo>
                  <a:pt x="306" y="397"/>
                </a:lnTo>
                <a:lnTo>
                  <a:pt x="301" y="399"/>
                </a:lnTo>
                <a:lnTo>
                  <a:pt x="296" y="401"/>
                </a:lnTo>
                <a:lnTo>
                  <a:pt x="292" y="403"/>
                </a:lnTo>
                <a:lnTo>
                  <a:pt x="287" y="405"/>
                </a:lnTo>
                <a:lnTo>
                  <a:pt x="282" y="407"/>
                </a:lnTo>
                <a:lnTo>
                  <a:pt x="277" y="409"/>
                </a:lnTo>
                <a:lnTo>
                  <a:pt x="272" y="411"/>
                </a:lnTo>
                <a:lnTo>
                  <a:pt x="267" y="412"/>
                </a:lnTo>
                <a:lnTo>
                  <a:pt x="262" y="413"/>
                </a:lnTo>
                <a:lnTo>
                  <a:pt x="257" y="415"/>
                </a:lnTo>
                <a:lnTo>
                  <a:pt x="252" y="416"/>
                </a:lnTo>
                <a:lnTo>
                  <a:pt x="247" y="417"/>
                </a:lnTo>
                <a:lnTo>
                  <a:pt x="242" y="418"/>
                </a:lnTo>
                <a:lnTo>
                  <a:pt x="237" y="418"/>
                </a:lnTo>
                <a:lnTo>
                  <a:pt x="231" y="419"/>
                </a:lnTo>
                <a:lnTo>
                  <a:pt x="226" y="419"/>
                </a:lnTo>
                <a:lnTo>
                  <a:pt x="221" y="420"/>
                </a:lnTo>
                <a:lnTo>
                  <a:pt x="215" y="420"/>
                </a:lnTo>
                <a:lnTo>
                  <a:pt x="210" y="420"/>
                </a:lnTo>
                <a:lnTo>
                  <a:pt x="205" y="420"/>
                </a:lnTo>
                <a:lnTo>
                  <a:pt x="199" y="420"/>
                </a:lnTo>
                <a:lnTo>
                  <a:pt x="194" y="419"/>
                </a:lnTo>
                <a:lnTo>
                  <a:pt x="189" y="419"/>
                </a:lnTo>
                <a:lnTo>
                  <a:pt x="183" y="418"/>
                </a:lnTo>
                <a:lnTo>
                  <a:pt x="178" y="418"/>
                </a:lnTo>
                <a:lnTo>
                  <a:pt x="173" y="417"/>
                </a:lnTo>
                <a:lnTo>
                  <a:pt x="168" y="416"/>
                </a:lnTo>
                <a:lnTo>
                  <a:pt x="163" y="415"/>
                </a:lnTo>
                <a:lnTo>
                  <a:pt x="158" y="413"/>
                </a:lnTo>
                <a:lnTo>
                  <a:pt x="153" y="412"/>
                </a:lnTo>
                <a:lnTo>
                  <a:pt x="148" y="411"/>
                </a:lnTo>
                <a:lnTo>
                  <a:pt x="143" y="409"/>
                </a:lnTo>
                <a:lnTo>
                  <a:pt x="138" y="407"/>
                </a:lnTo>
                <a:lnTo>
                  <a:pt x="133" y="405"/>
                </a:lnTo>
                <a:lnTo>
                  <a:pt x="128" y="403"/>
                </a:lnTo>
                <a:lnTo>
                  <a:pt x="124" y="401"/>
                </a:lnTo>
                <a:lnTo>
                  <a:pt x="119" y="399"/>
                </a:lnTo>
                <a:lnTo>
                  <a:pt x="114" y="397"/>
                </a:lnTo>
                <a:lnTo>
                  <a:pt x="110" y="395"/>
                </a:lnTo>
                <a:lnTo>
                  <a:pt x="106" y="392"/>
                </a:lnTo>
                <a:lnTo>
                  <a:pt x="101" y="390"/>
                </a:lnTo>
                <a:lnTo>
                  <a:pt x="97" y="387"/>
                </a:lnTo>
                <a:lnTo>
                  <a:pt x="93" y="384"/>
                </a:lnTo>
                <a:lnTo>
                  <a:pt x="88" y="381"/>
                </a:lnTo>
                <a:lnTo>
                  <a:pt x="84" y="378"/>
                </a:lnTo>
                <a:lnTo>
                  <a:pt x="80" y="375"/>
                </a:lnTo>
                <a:lnTo>
                  <a:pt x="76" y="372"/>
                </a:lnTo>
                <a:lnTo>
                  <a:pt x="73" y="369"/>
                </a:lnTo>
                <a:lnTo>
                  <a:pt x="69" y="365"/>
                </a:lnTo>
                <a:lnTo>
                  <a:pt x="65" y="362"/>
                </a:lnTo>
                <a:lnTo>
                  <a:pt x="62" y="358"/>
                </a:lnTo>
                <a:lnTo>
                  <a:pt x="58" y="355"/>
                </a:lnTo>
                <a:lnTo>
                  <a:pt x="55" y="351"/>
                </a:lnTo>
                <a:lnTo>
                  <a:pt x="51" y="347"/>
                </a:lnTo>
                <a:lnTo>
                  <a:pt x="48" y="344"/>
                </a:lnTo>
                <a:lnTo>
                  <a:pt x="45" y="340"/>
                </a:lnTo>
                <a:lnTo>
                  <a:pt x="42" y="336"/>
                </a:lnTo>
                <a:lnTo>
                  <a:pt x="39" y="332"/>
                </a:lnTo>
                <a:lnTo>
                  <a:pt x="36" y="327"/>
                </a:lnTo>
                <a:lnTo>
                  <a:pt x="33" y="323"/>
                </a:lnTo>
                <a:lnTo>
                  <a:pt x="30" y="319"/>
                </a:lnTo>
                <a:lnTo>
                  <a:pt x="28" y="314"/>
                </a:lnTo>
                <a:lnTo>
                  <a:pt x="25" y="310"/>
                </a:lnTo>
                <a:lnTo>
                  <a:pt x="23" y="306"/>
                </a:lnTo>
                <a:lnTo>
                  <a:pt x="21" y="301"/>
                </a:lnTo>
                <a:lnTo>
                  <a:pt x="19" y="296"/>
                </a:lnTo>
                <a:lnTo>
                  <a:pt x="17" y="292"/>
                </a:lnTo>
                <a:lnTo>
                  <a:pt x="15" y="287"/>
                </a:lnTo>
                <a:lnTo>
                  <a:pt x="13" y="282"/>
                </a:lnTo>
                <a:lnTo>
                  <a:pt x="11" y="277"/>
                </a:lnTo>
                <a:lnTo>
                  <a:pt x="9" y="272"/>
                </a:lnTo>
                <a:lnTo>
                  <a:pt x="8" y="267"/>
                </a:lnTo>
                <a:lnTo>
                  <a:pt x="7" y="262"/>
                </a:lnTo>
                <a:lnTo>
                  <a:pt x="5" y="257"/>
                </a:lnTo>
                <a:lnTo>
                  <a:pt x="4" y="252"/>
                </a:lnTo>
                <a:lnTo>
                  <a:pt x="3" y="247"/>
                </a:lnTo>
                <a:lnTo>
                  <a:pt x="2" y="242"/>
                </a:lnTo>
                <a:lnTo>
                  <a:pt x="2" y="237"/>
                </a:lnTo>
                <a:lnTo>
                  <a:pt x="1" y="231"/>
                </a:lnTo>
                <a:lnTo>
                  <a:pt x="1" y="226"/>
                </a:lnTo>
                <a:lnTo>
                  <a:pt x="0" y="221"/>
                </a:lnTo>
                <a:lnTo>
                  <a:pt x="0" y="215"/>
                </a:lnTo>
                <a:lnTo>
                  <a:pt x="0" y="210"/>
                </a:lnTo>
                <a:lnTo>
                  <a:pt x="0" y="205"/>
                </a:lnTo>
                <a:lnTo>
                  <a:pt x="0" y="199"/>
                </a:lnTo>
                <a:lnTo>
                  <a:pt x="1" y="194"/>
                </a:lnTo>
                <a:lnTo>
                  <a:pt x="1" y="189"/>
                </a:lnTo>
                <a:lnTo>
                  <a:pt x="2" y="183"/>
                </a:lnTo>
                <a:lnTo>
                  <a:pt x="2" y="178"/>
                </a:lnTo>
                <a:lnTo>
                  <a:pt x="3" y="173"/>
                </a:lnTo>
                <a:lnTo>
                  <a:pt x="4" y="168"/>
                </a:lnTo>
                <a:lnTo>
                  <a:pt x="5" y="163"/>
                </a:lnTo>
                <a:lnTo>
                  <a:pt x="7" y="158"/>
                </a:lnTo>
                <a:lnTo>
                  <a:pt x="8" y="153"/>
                </a:lnTo>
                <a:lnTo>
                  <a:pt x="9" y="148"/>
                </a:lnTo>
                <a:lnTo>
                  <a:pt x="11" y="143"/>
                </a:lnTo>
                <a:lnTo>
                  <a:pt x="13" y="138"/>
                </a:lnTo>
                <a:lnTo>
                  <a:pt x="15" y="133"/>
                </a:lnTo>
                <a:lnTo>
                  <a:pt x="17" y="128"/>
                </a:lnTo>
                <a:lnTo>
                  <a:pt x="19" y="124"/>
                </a:lnTo>
                <a:lnTo>
                  <a:pt x="21" y="119"/>
                </a:lnTo>
                <a:lnTo>
                  <a:pt x="23" y="114"/>
                </a:lnTo>
                <a:lnTo>
                  <a:pt x="25" y="110"/>
                </a:lnTo>
                <a:lnTo>
                  <a:pt x="28" y="106"/>
                </a:lnTo>
                <a:lnTo>
                  <a:pt x="30" y="101"/>
                </a:lnTo>
                <a:lnTo>
                  <a:pt x="33" y="97"/>
                </a:lnTo>
                <a:lnTo>
                  <a:pt x="36" y="93"/>
                </a:lnTo>
                <a:lnTo>
                  <a:pt x="39" y="88"/>
                </a:lnTo>
                <a:lnTo>
                  <a:pt x="42" y="84"/>
                </a:lnTo>
                <a:lnTo>
                  <a:pt x="45" y="80"/>
                </a:lnTo>
                <a:lnTo>
                  <a:pt x="48" y="76"/>
                </a:lnTo>
                <a:lnTo>
                  <a:pt x="51" y="73"/>
                </a:lnTo>
                <a:lnTo>
                  <a:pt x="55" y="69"/>
                </a:lnTo>
                <a:lnTo>
                  <a:pt x="58" y="65"/>
                </a:lnTo>
                <a:lnTo>
                  <a:pt x="62" y="62"/>
                </a:lnTo>
                <a:lnTo>
                  <a:pt x="65" y="58"/>
                </a:lnTo>
                <a:lnTo>
                  <a:pt x="69" y="55"/>
                </a:lnTo>
                <a:lnTo>
                  <a:pt x="73" y="51"/>
                </a:lnTo>
                <a:lnTo>
                  <a:pt x="76" y="48"/>
                </a:lnTo>
                <a:lnTo>
                  <a:pt x="80" y="45"/>
                </a:lnTo>
                <a:lnTo>
                  <a:pt x="84" y="42"/>
                </a:lnTo>
                <a:lnTo>
                  <a:pt x="87" y="40"/>
                </a:lnTo>
                <a:lnTo>
                  <a:pt x="333" y="40"/>
                </a:lnTo>
                <a:close/>
              </a:path>
            </a:pathLst>
          </a:custGeom>
          <a:solidFill>
            <a:srgbClr val="185FA5">
              <a:alpha val="55000"/>
            </a:srgbClr>
          </a:solidFill>
          <a:ln/>
        </p:spPr>
        <p:txBody>
          <a:bodyPr/>
          <a:p/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914400" y="1409700"/>
            <a:ext cx="10363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300">
                <a:solidFill>
                  <a:srgbClr val="85B7EB"/>
                </a:solidFill>
                <a:latin typeface="Microsoft YaHei"/>
                <a:ea typeface="Microsoft YaHei"/>
              </a:rPr>
              <a:t>第二章</a:t>
            </a:r>
            <a:endParaRPr/>
          </a:p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914400" y="1790700"/>
            <a:ext cx="10363200" cy="1600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0" b="1">
                <a:solidFill>
                  <a:srgbClr val="BA7517"/>
                </a:solidFill>
                <a:latin typeface="Georgia"/>
                <a:ea typeface="Georgia"/>
              </a:rPr>
              <a:t>02</a:t>
            </a:r>
            <a:endParaRPr/>
          </a:p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914400" y="3600450"/>
            <a:ext cx="10363200" cy="6286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3150" b="1">
                <a:solidFill>
                  <a:srgbClr val="FFFFFF"/>
                </a:solidFill>
                <a:latin typeface="Microsoft YaHei"/>
                <a:ea typeface="Microsoft YaHei"/>
              </a:rPr>
              <a:t>这条路，已经有人走通了</a:t>
            </a:r>
            <a:endParaRPr/>
          </a:p>
        </p:txBody>
      </p:sp>
      <p:sp>
        <p:nvSpPr>
          <p:cNvPr id="247" name=""/>
          <p:cNvSpPr/>
          <p:nvPr/>
        </p:nvSpPr>
        <p:spPr>
          <a:xfrm rot="0" flipH="0" flipV="0">
            <a:off x="914400" y="4438650"/>
            <a:ext cx="723900" cy="38100"/>
          </a:xfrm>
          <a:prstGeom prst="rect">
            <a:avLst/>
          </a:prstGeom>
          <a:solidFill>
            <a:srgbClr val="BA7517"/>
          </a:solidFill>
          <a:ln/>
        </p:spPr>
        <p:txBody>
          <a:bodyPr/>
          <a:p/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914400" y="4686300"/>
            <a:ext cx="7429500" cy="762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1500">
                <a:solidFill>
                  <a:srgbClr val="85B7EB"/>
                </a:solidFill>
                <a:latin typeface="Microsoft YaHei"/>
                <a:ea typeface="Microsoft YaHei"/>
              </a:rPr>
              <a:t>2026 </a:t>
            </a:r>
            <a:r>
              <a:rPr lang="zh-CN" sz="1500">
                <a:solidFill>
                  <a:srgbClr val="85B7EB"/>
                </a:solidFill>
                <a:latin typeface="Microsoft YaHei"/>
                <a:ea typeface="Microsoft YaHei"/>
              </a:rPr>
              <a:t>年，四家银行以植物新品种权作质押，真金白银放出了从</a:t>
            </a:r>
            <a:r>
              <a:rPr lang="en-US" sz="1500">
                <a:solidFill>
                  <a:srgbClr val="85B7EB"/>
                </a:solidFill>
                <a:latin typeface="Microsoft YaHei"/>
                <a:ea typeface="Microsoft YaHei"/>
              </a:rPr>
              <a:t> 300 </a:t>
            </a:r>
            <a:r>
              <a:rPr lang="zh-CN" sz="1500">
                <a:solidFill>
                  <a:srgbClr val="85B7EB"/>
                </a:solidFill>
                <a:latin typeface="Microsoft YaHei"/>
                <a:ea typeface="Microsoft YaHei"/>
              </a:rPr>
              <a:t>万到</a:t>
            </a:r>
            <a:r>
              <a:rPr lang="en-US" sz="1500">
                <a:solidFill>
                  <a:srgbClr val="85B7EB"/>
                </a:solidFill>
                <a:latin typeface="Microsoft YaHei"/>
                <a:ea typeface="Microsoft YaHei"/>
              </a:rPr>
              <a:t> 3 </a:t>
            </a:r>
            <a:r>
              <a:rPr lang="zh-CN" sz="1500">
                <a:solidFill>
                  <a:srgbClr val="85B7EB"/>
                </a:solidFill>
                <a:latin typeface="Microsoft YaHei"/>
                <a:ea typeface="Microsoft YaHei"/>
              </a:rPr>
              <a:t>亿元的贷款。评估报告，是这条链条的第一步。</a:t>
            </a:r>
            <a:endParaRPr/>
          </a:p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914400" y="63722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5B7EB"/>
                </a:solidFill>
                <a:latin typeface="Georgia"/>
                <a:ea typeface="Georgia"/>
              </a:rPr>
              <a:t>07 / 14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250" name="" descr="&lt;Slide style={{ width: 1280, height: 720, padding: '20px 72px', background: '#FFFFFF', flexDirection: 'column' }}&gt;&#10;    &lt;Box style={{ width: '100%', height: 112, flexDirection: 'row', alignItems: 'center', justifyContent: 'space-between' }}&gt;&#10;        &lt;Text style={{ fontFamily: 'Microsoft YaHei', fontSize: 36, fontWeight: 'bold', color: '#1A1A1A' }}&gt;银行已经认了：2026 年真实放款&lt;/Text&gt;&#10;        &lt;Text style={{ fontFamily: 'Microsoft YaHei', fontSize: 16, color: '#5A6672' }}&gt;全部以植物新品种权质押&lt;/Text&gt;&#10;    &lt;/Box&gt;&#10;    &lt;Box style={{ width: '100%', height: 528, flexDirection: 'column' }}&gt;&#10;        &lt;Box style={{ width: '100%', height: 108, background: '#0C447C', borderRadius: 10, padding: '0 26px', flexDirection: 'row', alignItems: 'center', gap: 26 }}&gt;&#10;            &lt;Box style={{ width: 300, flexDirection: 'row', alignItems: 'flex-end', gap: 10 }}&gt;&#10;                &lt;Text style={{ fontFamily: 'Georgia', fontSize: 64, fontWeight: 'bold', color: '#BA7517', lineHeight: 1.0 }}&gt;3&lt;/Text&gt;&#10;                &lt;Text style={{ fontFamily: 'Microsoft YaHei', fontSize: 26, fontWeight: 'bold', color: '#BA7517', marginBottom: 12 }}&gt;亿元&lt;/Text&gt;&#10;            &lt;/Box&gt;&#10;            &lt;Box style={{ width: 1, height: 56, background: '#185FA5' }} /&gt;&#10;            &lt;Box style={{ flex: 1, flexDirection: 'column', gap: 6 }}&gt;&#10;                &lt;Text style={{ fontFamily: 'Microsoft YaHei', fontSize: 22, fontWeight: 'bold', color: '#FFFFFF' }}&gt;工商银行昌吉分行&lt;/Text&gt;&#10;                &lt;Text style={{ fontFamily: 'Microsoft YaHei', fontSize: 16, color: '#85B7EB' }}&gt;制种龙头企业 · 原种收购贷款&lt;/Text&gt;&#10;            &lt;/Box&gt;&#10;        &lt;/Box&gt;&#10;        &lt;Box style={{ width: '100%', height: 108, background: '#F4F6F9', borderRadius: 10, padding: '0 26px', flexDirection: 'row', alignItems: 'center', gap: 26, marginTop: 12 }}&gt;&#10;            &lt;Box style={{ width: 300, flexDirection: 'row', alignItems: 'flex-end', gap: 10 }}&gt;&#10;                &lt;Text style={{ fontFamily: 'Georgia', fontSize: 60, fontWeight: 'bold', color: '#0C447C', lineHeight: 1.0 }}&gt;1&lt;/Text&gt;&#10;                &lt;Text style={{ fontFamily: 'Microsoft YaHei', fontSize: 26, fontWeight: 'bold', color: '#0C447C', marginBottom: 12 }}&gt;亿元&lt;/Text&gt;&#10;            &lt;/Box&gt;&#10;            &lt;Box style={{ width: 1, height: 56, background: '#85B7EB' }} /&gt;&#10;            &lt;Box style={{ flex: 1, flexDirection: 'column', gap: 6 }}&gt;&#10;                &lt;Text style={{ fontFamily: 'Microsoft YaHei', fontSize: 22, fontWeight: 'bold', color: '#0C447C' }}&gt;新疆农商银行双河支行&lt;/Text&gt;&#10;                &lt;Text style={{ fontFamily: 'Microsoft YaHei', fontSize: 16, color: '#5A6672' }}&gt;「鲁8H29」棉花品种权 · 种业专项「种子贷」&lt;/Text&gt;&#10;            &lt;/Box&gt;&#10;        &lt;/Box&gt;&#10;        &lt;Box style={{ width: '100%', height: 108, background: '#F4F6F9', borderRadius: 10, padding: '0 26px', flexDirection: 'row', alignItems: 'center', gap: 26, marginTop: 12 }}&gt;&#10;            &lt;Box style={{ width: 300, flexDirection: 'row', alignItems: 'flex-end', gap: 10 }}&gt;&#10;                &lt;Text style={{ fontFamily: 'Georgia', fontSize: 54, fontWeight: 'bold', color: '#0C447C', lineHeight: 1.0 }}&gt;6282&lt;/Text&gt;&#10;                &lt;Text style={{ fontFamily: 'Microsoft YaHei', fontSize: 24, fontWeight: 'bold', color: '#0C447C', marginBottom: 9 }}&gt;万元&lt;/Text&gt;&#10;            &lt;/Box&gt;&#10;            &lt;Box style={{ width: 1, height: 56, background: '#85B7EB' }} /&gt;&#10;            &lt;Box style={{ flex: 1, flexDirection: 'column', gap: 6 }}&gt;&#10;                &lt;Text style={{ fontFamily: 'Microsoft YaHei', fontSize: 22, fontWeight: 'bold', color: '#0C447C' }}&gt;农发行松原市分行&lt;/Text&gt;&#10;                &lt;Text style={{ fontFamily: 'Microsoft YaHei', fontSize: 16, color: '#5A6672' }}&gt;3 笔植物新品种权质押累计放贷&lt;/Text&gt;&#10;            &lt;/Box&gt;&#10;        &lt;/Box&gt;&#10;        &lt;Box style={{ width: '100%', height: 108, background: '#F4F6F9', borderRadius: 10, padding: '0 26px', flexDirection: 'row', alignItems: 'center', gap: 26, marginTop: 12 }}&gt;&#10;            &lt;Box style={{ width: 300, flexDirection: 'row', alignItems: 'flex-end', gap: 10 }}&gt;&#10;                &lt;Text style={{ fontFamily: 'Georgia', fontSize: 50, fontWeight: 'bold', color: '#0C447C', lineHeight: 1.0 }}&gt;300&lt;/Text&gt;&#10;                &lt;Text style={{ fontFamily: 'Microsoft YaHei', fontSize: 24, fontWeight: 'bold', color: '#0C447C', marginBottom: 8 }}&gt;万元&lt;/Text&gt;&#10;            &lt;/Box&gt;&#10;            &lt;Box style={{ width: 1, height: 56, background: '#85B7EB' }} /&gt;&#10;            &lt;Box style={{ flex: 1, flexDirection: 'column', gap: 6 }}&gt;&#10;                &lt;Text style={{ fontFamily: 'Microsoft YaHei', fontSize: 22, fontWeight: 'bold', color: '#0C447C' }}&gt;建设银行长春净月开发区支行&lt;/Text&gt;&#10;                &lt;Text style={{ fontFamily: 'Microsoft YaHei', fontSize: 16, color: '#5A6672' }}&gt;4 项玉米新品种权 · 综合授信&lt;/Text&gt;&#10;            &lt;/Box&gt;&#10;        &lt;/Box&gt;&#10;        &lt;Box style={{ width: '100%', height: 48, flexDirection: 'row', alignItems: 'center', marginTop: 12, borderLeft: '4px solid #BA7517', paddingLeft: 20 }}&gt;&#10;            &lt;Text style={{ fontFamily: 'Microsoft YaHei', fontSize: 18, color: '#1A1A1A' }}&gt;银行不是在做慈善：它认的是&lt;span style={{ fontWeight: 'bold', color: '#0C447C' }}&gt;可核查的权属、可量化的收益、可处置的资产&lt;/span&gt;——这三件事，正是评估报告要替你交出来的。&lt;/Text&gt;&#10;        &lt;/Box&gt;&#10;    &lt;/Box&gt;&#10;    &lt;Box style={{ width: '100%', height: 40, flexDirection: 'row', alignItems: 'center', justifyContent: 'space-between' }}&gt;&#10;        &lt;Text style={{ fontFamily: 'Microsoft YaHei', fontSize: 14, color: '#5A6672' }}&gt;海南国扬 · 无形资产评估专项&lt;/Text&gt;&#10;        &lt;Text style={{ fontFamily: 'Georgia', fontSize: 14, color: '#5A6672' }}&gt;08 / 1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685800" y="514350"/>
            <a:ext cx="50673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A1A1A"/>
                </a:solidFill>
                <a:latin typeface="Microsoft YaHei"/>
                <a:ea typeface="Microsoft YaHei"/>
              </a:rPr>
              <a:t>银行已经认了：</a:t>
            </a:r>
            <a:r>
              <a:rPr lang="en-US" sz="2700" b="1">
                <a:solidFill>
                  <a:srgbClr val="1A1A1A"/>
                </a:solidFill>
                <a:latin typeface="Microsoft YaHei"/>
                <a:ea typeface="Microsoft YaHei"/>
              </a:rPr>
              <a:t>2026 </a:t>
            </a:r>
            <a:r>
              <a:rPr lang="zh-CN" sz="2700" b="1">
                <a:solidFill>
                  <a:srgbClr val="1A1A1A"/>
                </a:solidFill>
                <a:latin typeface="Microsoft YaHei"/>
                <a:ea typeface="Microsoft YaHei"/>
              </a:rPr>
              <a:t>年真实放款</a:t>
            </a:r>
            <a:endParaRPr/>
          </a:p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9829800" y="628650"/>
            <a:ext cx="1676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A6672"/>
                </a:solidFill>
                <a:latin typeface="Microsoft YaHei"/>
                <a:ea typeface="Microsoft YaHei"/>
              </a:rPr>
              <a:t>全部以植物新品种权质押</a:t>
            </a:r>
            <a:endParaRPr/>
          </a:p>
        </p:txBody>
      </p:sp>
      <p:sp>
        <p:nvSpPr>
          <p:cNvPr id="254" name=""/>
          <p:cNvSpPr/>
          <p:nvPr/>
        </p:nvSpPr>
        <p:spPr>
          <a:xfrm rot="0" flipH="0" flipV="0">
            <a:off x="685800" y="1257300"/>
            <a:ext cx="10820400" cy="1028700"/>
          </a:xfrm>
          <a:prstGeom prst="roundRect">
            <a:avLst>
              <a:gd name="adj" fmla="val 9259"/>
            </a:avLst>
          </a:prstGeom>
          <a:solidFill>
            <a:srgbClr val="0C447C"/>
          </a:solidFill>
          <a:ln/>
        </p:spPr>
        <p:txBody>
          <a:bodyPr/>
          <a:p/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933450" y="1409700"/>
            <a:ext cx="381000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BA7517"/>
                </a:solidFill>
                <a:latin typeface="Georgia"/>
                <a:ea typeface="Georgia"/>
              </a:rPr>
              <a:t>3</a:t>
            </a:r>
            <a:endParaRPr/>
          </a:p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1409700" y="1724025"/>
            <a:ext cx="4953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BA7517"/>
                </a:solidFill>
                <a:latin typeface="Microsoft YaHei"/>
                <a:ea typeface="Microsoft YaHei"/>
              </a:rPr>
              <a:t>亿元</a:t>
            </a:r>
            <a:endParaRPr/>
          </a:p>
        </p:txBody>
      </p:sp>
      <p:sp>
        <p:nvSpPr>
          <p:cNvPr id="257" name=""/>
          <p:cNvSpPr/>
          <p:nvPr/>
        </p:nvSpPr>
        <p:spPr>
          <a:xfrm rot="0" flipH="0" flipV="0">
            <a:off x="4038600" y="1504950"/>
            <a:ext cx="9525" cy="533400"/>
          </a:xfrm>
          <a:prstGeom prst="rect">
            <a:avLst/>
          </a:prstGeom>
          <a:solidFill>
            <a:srgbClr val="185FA5"/>
          </a:solidFill>
          <a:ln/>
        </p:spPr>
        <p:txBody>
          <a:bodyPr/>
          <a:p/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4295775" y="1524000"/>
            <a:ext cx="69627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工商银行昌吉分行</a:t>
            </a:r>
            <a:endParaRPr/>
          </a:p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4295775" y="1838325"/>
            <a:ext cx="69627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5B7EB"/>
                </a:solidFill>
                <a:latin typeface="Microsoft YaHei"/>
                <a:ea typeface="Microsoft YaHei"/>
              </a:rPr>
              <a:t>制种龙头企业</a:t>
            </a:r>
            <a:r>
              <a:rPr lang="en-US" sz="1200">
                <a:solidFill>
                  <a:srgbClr val="85B7EB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85B7EB"/>
                </a:solidFill>
                <a:latin typeface="Microsoft YaHei"/>
                <a:ea typeface="Microsoft YaHei"/>
              </a:rPr>
              <a:t>原种收购贷款</a:t>
            </a:r>
            <a:endParaRPr/>
          </a:p>
        </p:txBody>
      </p:sp>
      <p:sp>
        <p:nvSpPr>
          <p:cNvPr id="260" name=""/>
          <p:cNvSpPr/>
          <p:nvPr/>
        </p:nvSpPr>
        <p:spPr>
          <a:xfrm rot="0" flipH="0" flipV="0">
            <a:off x="685800" y="2400300"/>
            <a:ext cx="10820400" cy="1028700"/>
          </a:xfrm>
          <a:prstGeom prst="roundRect">
            <a:avLst>
              <a:gd name="adj" fmla="val 9259"/>
            </a:avLst>
          </a:prstGeom>
          <a:solidFill>
            <a:srgbClr val="F4F6F9"/>
          </a:solidFill>
          <a:ln/>
        </p:spPr>
        <p:txBody>
          <a:bodyPr/>
          <a:p/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933450" y="2571750"/>
            <a:ext cx="285750" cy="685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500" b="1">
                <a:solidFill>
                  <a:srgbClr val="0C447C"/>
                </a:solidFill>
                <a:latin typeface="Georgia"/>
                <a:ea typeface="Georgia"/>
              </a:rPr>
              <a:t>1</a:t>
            </a:r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1314450" y="2838450"/>
            <a:ext cx="4953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0C447C"/>
                </a:solidFill>
                <a:latin typeface="Microsoft YaHei"/>
                <a:ea typeface="Microsoft YaHei"/>
              </a:rPr>
              <a:t>亿元</a:t>
            </a:r>
            <a:endParaRPr/>
          </a:p>
        </p:txBody>
      </p:sp>
      <p:sp>
        <p:nvSpPr>
          <p:cNvPr id="263" name=""/>
          <p:cNvSpPr/>
          <p:nvPr/>
        </p:nvSpPr>
        <p:spPr>
          <a:xfrm rot="0" flipH="0" flipV="0">
            <a:off x="4038600" y="2647950"/>
            <a:ext cx="9525" cy="533400"/>
          </a:xfrm>
          <a:prstGeom prst="rect">
            <a:avLst/>
          </a:prstGeom>
          <a:solidFill>
            <a:srgbClr val="85B7EB"/>
          </a:solidFill>
          <a:ln/>
        </p:spPr>
        <p:txBody>
          <a:bodyPr/>
          <a:p/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4295775" y="2667000"/>
            <a:ext cx="69627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C447C"/>
                </a:solidFill>
                <a:latin typeface="Microsoft YaHei"/>
                <a:ea typeface="Microsoft YaHei"/>
              </a:rPr>
              <a:t>新疆农商银行双河支行</a:t>
            </a:r>
            <a:endParaRPr/>
          </a:p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4295775" y="2981325"/>
            <a:ext cx="69627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A6672"/>
                </a:solidFill>
                <a:latin typeface="Microsoft YaHei"/>
                <a:ea typeface="Microsoft YaHei"/>
              </a:rPr>
              <a:t>「鲁</a:t>
            </a:r>
            <a:r>
              <a:rPr lang="en-US" sz="1200">
                <a:solidFill>
                  <a:srgbClr val="5A6672"/>
                </a:solidFill>
                <a:latin typeface="Microsoft YaHei"/>
                <a:ea typeface="Microsoft YaHei"/>
              </a:rPr>
              <a:t>8H29</a:t>
            </a:r>
            <a:r>
              <a:rPr lang="zh-CN" sz="1200">
                <a:solidFill>
                  <a:srgbClr val="5A6672"/>
                </a:solidFill>
                <a:latin typeface="Microsoft YaHei"/>
                <a:ea typeface="Microsoft YaHei"/>
              </a:rPr>
              <a:t>」棉花品种权</a:t>
            </a:r>
            <a:r>
              <a:rPr lang="en-US" sz="1200">
                <a:solidFill>
                  <a:srgbClr val="5A6672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5A6672"/>
                </a:solidFill>
                <a:latin typeface="Microsoft YaHei"/>
                <a:ea typeface="Microsoft YaHei"/>
              </a:rPr>
              <a:t>种业专项「种子贷」</a:t>
            </a:r>
            <a:endParaRPr/>
          </a:p>
        </p:txBody>
      </p:sp>
      <p:sp>
        <p:nvSpPr>
          <p:cNvPr id="266" name=""/>
          <p:cNvSpPr/>
          <p:nvPr/>
        </p:nvSpPr>
        <p:spPr>
          <a:xfrm rot="0" flipH="0" flipV="0">
            <a:off x="685800" y="3543300"/>
            <a:ext cx="10820400" cy="1028700"/>
          </a:xfrm>
          <a:prstGeom prst="roundRect">
            <a:avLst>
              <a:gd name="adj" fmla="val 9259"/>
            </a:avLst>
          </a:prstGeom>
          <a:solidFill>
            <a:srgbClr val="F4F6F9"/>
          </a:solidFill>
          <a:ln/>
        </p:spPr>
        <p:txBody>
          <a:bodyPr/>
          <a:p/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933450" y="3752850"/>
            <a:ext cx="1333500" cy="6191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050" b="1">
                <a:solidFill>
                  <a:srgbClr val="0C447C"/>
                </a:solidFill>
                <a:latin typeface="Georgia"/>
                <a:ea typeface="Georgia"/>
              </a:rPr>
              <a:t>6282</a:t>
            </a:r>
            <a:endParaRPr/>
          </a:p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2362200" y="4010025"/>
            <a:ext cx="457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C447C"/>
                </a:solidFill>
                <a:latin typeface="Microsoft YaHei"/>
                <a:ea typeface="Microsoft YaHei"/>
              </a:rPr>
              <a:t>万元</a:t>
            </a:r>
            <a:endParaRPr/>
          </a:p>
        </p:txBody>
      </p:sp>
      <p:sp>
        <p:nvSpPr>
          <p:cNvPr id="269" name=""/>
          <p:cNvSpPr/>
          <p:nvPr/>
        </p:nvSpPr>
        <p:spPr>
          <a:xfrm rot="0" flipH="0" flipV="0">
            <a:off x="4038600" y="3790950"/>
            <a:ext cx="9525" cy="533400"/>
          </a:xfrm>
          <a:prstGeom prst="rect">
            <a:avLst/>
          </a:prstGeom>
          <a:solidFill>
            <a:srgbClr val="85B7EB"/>
          </a:solidFill>
          <a:ln/>
        </p:spPr>
        <p:txBody>
          <a:bodyPr/>
          <a:p/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4295775" y="3810000"/>
            <a:ext cx="69627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C447C"/>
                </a:solidFill>
                <a:latin typeface="Microsoft YaHei"/>
                <a:ea typeface="Microsoft YaHei"/>
              </a:rPr>
              <a:t>农发行松原市分行</a:t>
            </a:r>
            <a:endParaRPr/>
          </a:p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4295775" y="4124325"/>
            <a:ext cx="69627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5A6672"/>
                </a:solidFill>
                <a:latin typeface="Microsoft YaHei"/>
                <a:ea typeface="Microsoft YaHei"/>
              </a:rPr>
              <a:t>3 </a:t>
            </a:r>
            <a:r>
              <a:rPr lang="zh-CN" sz="1200">
                <a:solidFill>
                  <a:srgbClr val="5A6672"/>
                </a:solidFill>
                <a:latin typeface="Microsoft YaHei"/>
                <a:ea typeface="Microsoft YaHei"/>
              </a:rPr>
              <a:t>笔植物新品种权质押累计放贷</a:t>
            </a:r>
            <a:endParaRPr/>
          </a:p>
        </p:txBody>
      </p:sp>
      <p:sp>
        <p:nvSpPr>
          <p:cNvPr id="272" name=""/>
          <p:cNvSpPr/>
          <p:nvPr/>
        </p:nvSpPr>
        <p:spPr>
          <a:xfrm rot="0" flipH="0" flipV="0">
            <a:off x="685800" y="4686300"/>
            <a:ext cx="10820400" cy="1028700"/>
          </a:xfrm>
          <a:prstGeom prst="roundRect">
            <a:avLst>
              <a:gd name="adj" fmla="val 9259"/>
            </a:avLst>
          </a:prstGeom>
          <a:solidFill>
            <a:srgbClr val="F4F6F9"/>
          </a:solidFill>
          <a:ln/>
        </p:spPr>
        <p:txBody>
          <a:bodyPr/>
          <a:p/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933450" y="4914900"/>
            <a:ext cx="971550" cy="571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750" b="1">
                <a:solidFill>
                  <a:srgbClr val="0C447C"/>
                </a:solidFill>
                <a:latin typeface="Georgia"/>
                <a:ea typeface="Georgia"/>
              </a:rPr>
              <a:t>300</a:t>
            </a:r>
            <a:endParaRPr/>
          </a:p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2000250" y="5133975"/>
            <a:ext cx="457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C447C"/>
                </a:solidFill>
                <a:latin typeface="Microsoft YaHei"/>
                <a:ea typeface="Microsoft YaHei"/>
              </a:rPr>
              <a:t>万元</a:t>
            </a:r>
            <a:endParaRPr/>
          </a:p>
        </p:txBody>
      </p:sp>
      <p:sp>
        <p:nvSpPr>
          <p:cNvPr id="275" name=""/>
          <p:cNvSpPr/>
          <p:nvPr/>
        </p:nvSpPr>
        <p:spPr>
          <a:xfrm rot="0" flipH="0" flipV="0">
            <a:off x="4038600" y="4933950"/>
            <a:ext cx="9525" cy="533400"/>
          </a:xfrm>
          <a:prstGeom prst="rect">
            <a:avLst/>
          </a:prstGeom>
          <a:solidFill>
            <a:srgbClr val="85B7EB"/>
          </a:solidFill>
          <a:ln/>
        </p:spPr>
        <p:txBody>
          <a:bodyPr/>
          <a:p/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4295775" y="4953000"/>
            <a:ext cx="69627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C447C"/>
                </a:solidFill>
                <a:latin typeface="Microsoft YaHei"/>
                <a:ea typeface="Microsoft YaHei"/>
              </a:rPr>
              <a:t>建设银行长春净月开发区支行</a:t>
            </a:r>
            <a:endParaRPr/>
          </a:p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4295775" y="5267325"/>
            <a:ext cx="69627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5A6672"/>
                </a:solidFill>
                <a:latin typeface="Microsoft YaHei"/>
                <a:ea typeface="Microsoft YaHei"/>
              </a:rPr>
              <a:t>4 </a:t>
            </a:r>
            <a:r>
              <a:rPr lang="zh-CN" sz="1200">
                <a:solidFill>
                  <a:srgbClr val="5A6672"/>
                </a:solidFill>
                <a:latin typeface="Microsoft YaHei"/>
                <a:ea typeface="Microsoft YaHei"/>
              </a:rPr>
              <a:t>项玉米新品种权</a:t>
            </a:r>
            <a:r>
              <a:rPr lang="en-US" sz="1200">
                <a:solidFill>
                  <a:srgbClr val="5A6672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5A6672"/>
                </a:solidFill>
                <a:latin typeface="Microsoft YaHei"/>
                <a:ea typeface="Microsoft YaHei"/>
              </a:rPr>
              <a:t>综合授信</a:t>
            </a:r>
            <a:endParaRPr/>
          </a:p>
        </p:txBody>
      </p:sp>
      <p:sp>
        <p:nvSpPr>
          <p:cNvPr id="278" name=""/>
          <p:cNvSpPr/>
          <p:nvPr/>
        </p:nvSpPr>
        <p:spPr>
          <a:xfrm rot="0" flipH="0" flipV="0">
            <a:off x="685800" y="5829300"/>
            <a:ext cx="10858500" cy="457200"/>
          </a:xfrm>
          <a:custGeom>
            <a:pathLst>
              <a:path w="1140" h="48">
                <a:moveTo>
                  <a:pt x="0" y="0"/>
                </a:moveTo>
                <a:lnTo>
                  <a:pt x="4" y="0"/>
                </a:lnTo>
                <a:lnTo>
                  <a:pt x="4" y="48"/>
                </a:lnTo>
                <a:lnTo>
                  <a:pt x="0" y="48"/>
                </a:lnTo>
                <a:close/>
              </a:path>
            </a:pathLst>
          </a:custGeom>
          <a:solidFill>
            <a:srgbClr val="BA7517"/>
          </a:solidFill>
          <a:ln/>
        </p:spPr>
        <p:txBody>
          <a:bodyPr/>
          <a:p/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914400" y="5953125"/>
            <a:ext cx="92868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A1A1A"/>
                </a:solidFill>
                <a:latin typeface="Microsoft YaHei"/>
                <a:ea typeface="Microsoft YaHei"/>
              </a:rPr>
              <a:t>银行不是在做慈善：它认的是</a:t>
            </a:r>
            <a:r>
              <a:rPr lang="zh-CN" sz="1350" b="1">
                <a:solidFill>
                  <a:srgbClr val="0C447C"/>
                </a:solidFill>
                <a:latin typeface="Microsoft YaHei"/>
                <a:ea typeface="Microsoft YaHei"/>
              </a:rPr>
              <a:t>可核查的权属、可量化的收益、可处置的资产</a:t>
            </a:r>
            <a:r>
              <a:rPr lang="zh-CN" sz="1350">
                <a:solidFill>
                  <a:srgbClr val="1A1A1A"/>
                </a:solidFill>
                <a:latin typeface="Microsoft YaHei"/>
                <a:ea typeface="Microsoft YaHei"/>
              </a:rPr>
              <a:t>——这三件事，正是评估报告要替你交出来的。</a:t>
            </a:r>
            <a:endParaRPr/>
          </a:p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685800" y="6400800"/>
            <a:ext cx="1714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A6672"/>
                </a:solidFill>
                <a:latin typeface="Microsoft YaHei"/>
                <a:ea typeface="Microsoft YaHei"/>
              </a:rPr>
              <a:t>海南国扬</a:t>
            </a:r>
            <a:r>
              <a:rPr lang="en-US" sz="1050">
                <a:solidFill>
                  <a:srgbClr val="5A6672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5A6672"/>
                </a:solidFill>
                <a:latin typeface="Microsoft YaHei"/>
                <a:ea typeface="Microsoft YaHei"/>
              </a:rPr>
              <a:t>无形资产评估专项</a:t>
            </a:r>
            <a:endParaRPr/>
          </a:p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11077575" y="6400800"/>
            <a:ext cx="428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A6672"/>
                </a:solidFill>
                <a:latin typeface="Georgia"/>
                <a:ea typeface="Georgia"/>
              </a:rPr>
              <a:t>08 / 14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282" name="" descr="&lt;Slide style={{ width: 1280, height: 720, padding: '20px 72px', background: '#FFFFFF', flexDirection: 'column' }}&gt;&#10;    &lt;Box style={{ width: '100%', height: 112, flexDirection: 'row', alignItems: 'center', justifyContent: 'space-between' }}&gt;&#10;        &lt;Text style={{ fontFamily: 'Microsoft YaHei', fontSize: 36, fontWeight: 'bold', color: '#1A1A1A' }}&gt;从一份报告到一笔资金：五步&lt;/Text&gt;&#10;        &lt;Text style={{ fontFamily: 'Microsoft YaHei', fontSize: 16, color: '#5A6672' }}&gt;第一步就是我们做的事&lt;/Text&gt;&#10;    &lt;/Box&gt;&#10;    &lt;Box style={{ width: '100%', height: 528, flexDirection: 'row', gap: 34 }}&gt;&#10;        &lt;Box style={{ width: 330, height: '100%', background: '#0C447C', borderRadius: 10, padding: '32px 26px', flexDirection: 'column', justifyContent: 'space-between' }}&gt;&#10;            &lt;Box style={{ flexDirection: 'column' }}&gt;&#10;                &lt;Text style={{ fontFamily: 'Microsoft YaHei', fontSize: 15, color: '#85B7EB', letterSpacing: 3, marginBottom: 16 }}&gt;资金路径&lt;/Text&gt;&#10;                &lt;Text style={{ fontFamily: 'Microsoft YaHei', fontSize: 30, fontWeight: 'bold', color: '#FFFFFF', lineHeight: 1.5 }}&gt;评估报告不是终点，&lt;br /&gt;它是起点&lt;/Text&gt;&#10;            &lt;/Box&gt;&#10;            &lt;Box style={{ flexDirection: 'column' }}&gt;&#10;                &lt;Box style={{ width: 48, height: 4, background: '#BA7517', marginBottom: 16 }} /&gt;&#10;                &lt;Text style={{ fontFamily: 'Microsoft YaHei', fontSize: 15, color: '#85B7EB', lineHeight: 1.7 }}&gt;整条链上，只有第一步需要第三方机构出具报告。它做扎实了，后面四步才走得动。&lt;/Text&gt;&#10;            &lt;/Box&gt;&#10;        &lt;/Box&gt;&#10;        &lt;Box style={{ flex: 1, height: '100%', flexDirection: 'column', gap: 12 }}&gt;&#10;            &lt;Box style={{ width: '100%', height: 96, background: '#0C447C', borderRadius: 8, padding: '0 22px', flexDirection: 'row', alignItems: 'center', gap: 18 }}&gt;&#10;                &lt;Box style={{ width: 34, height: 34, borderRadius: 17, background: '#BA7517', alignItems: 'center', justifyContent: 'center' }}&gt;&#10;                    &lt;Text style={{ fontFamily: 'Georgia', fontSize: 17, fontWeight: 'bold', color: '#FFFFFF' }}&gt;1&lt;/Text&gt;&#10;                &lt;/Box&gt;&#10;                &lt;Text style={{ fontFamily: 'Microsoft YaHei', fontSize: 20, fontWeight: 'bold', color: '#FFFFFF', width: 168 }}&gt;价值评估&lt;/Text&gt;&#10;                &lt;Text style={{ flex: 1, fontFamily: 'Microsoft YaHei', fontSize: 16, color: '#85B7EB', lineHeight: 1.5 }}&gt;委托有资质的第三方机构，出具植物新品种权价值评估报告&lt;/Text&gt;&#10;            &lt;/Box&gt;&#10;            &lt;Box style={{ width: '100%', height: 96, background: '#F4F6F9', borderRadius: 8, padding: '0 22px', flexDirection: 'row', alignItems: 'center', gap: 18 }}&gt;&#10;                &lt;Box style={{ width: 34, height: 34, borderRadius: 17, background: '#FFFFFF', alignItems: 'center', justifyContent: 'center' }}&gt;&#10;                    &lt;Text style={{ fontFamily: 'Georgia', fontSize: 17, fontWeight: 'bold', color: '#0C447C' }}&gt;2&lt;/Text&gt;&#10;                &lt;/Box&gt;&#10;                &lt;Text style={{ fontFamily: 'Microsoft YaHei', fontSize: 20, fontWeight: 'bold', color: '#0C447C', width: 168 }}&gt;质押备案&lt;/Text&gt;&#10;                &lt;Text style={{ flex: 1, fontFamily: 'Microsoft YaHei', fontSize: 16, color: '#5A6672', lineHeight: 1.5 }}&gt;向农业农村部植物新品种保护办公室备案，取得《质押备案说明》&lt;/Text&gt;&#10;            &lt;/Box&gt;&#10;            &lt;Box style={{ width: '100%', height: 96, background: '#F4F6F9', borderRadius: 8, padding: '0 22px', flexDirection: 'row', alignItems: 'center', gap: 18 }}&gt;&#10;                &lt;Box style={{ width: 34, height: 34, borderRadius: 17, background: '#FFFFFF', alignItems: 'center', justifyContent: 'center' }}&gt;&#10;                    &lt;Text style={{ fontFamily: 'Georgia', fontSize: 17, fontWeight: 'bold', color: '#0C447C' }}&gt;3&lt;/Text&gt;&#10;                &lt;/Box&gt;&#10;                &lt;Text style={{ fontFamily: 'Microsoft YaHei', fontSize: 20, fontWeight: 'bold', color: '#0C447C', width: 168 }}&gt;质押登记&lt;/Text&gt;&#10;                &lt;Text style={{ flex: 1, fontFamily: 'Microsoft YaHei', fontSize: 16, color: '#5A6672', lineHeight: 1.5 }}&gt;在人民银行动产融资统一登记公示系统完成登记，保障质押权&lt;/Text&gt;&#10;            &lt;/Box&gt;&#10;            &lt;Box style={{ width: '100%', height: 96, background: '#F4F6F9', borderRadius: 8, padding: '0 22px', flexDirection: 'row', alignItems: 'center', gap: 18 }}&gt;&#10;                &lt;Box style={{ width: 34, height: 34, borderRadius: 17, background: '#FFFFFF', alignItems: 'center', justifyContent: 'center' }}&gt;&#10;                    &lt;Text style={{ fontFamily: 'Georgia', fontSize: 17, fontWeight: 'bold', color: '#0C447C' }}&gt;4&lt;/Text&gt;&#10;                &lt;/Box&gt;&#10;                &lt;Text style={{ fontFamily: 'Microsoft YaHei', fontSize: 20, fontWeight: 'bold', color: '#0C447C', width: 168 }}&gt;授信审批&lt;/Text&gt;&#10;                &lt;Text style={{ flex: 1, fontFamily: 'Microsoft YaHei', fontSize: 16, color: '#5A6672', lineHeight: 1.5 }}&gt;银行按推广规模、市占率、种植收益与产业带动能力核定额度&lt;/Text&gt;&#10;            &lt;/Box&gt;&#10;            &lt;Box style={{ width: '100%', height: 96, background: '#F4F6F9', borderRadius: 8, padding: '0 22px', flexDirection: 'row', alignItems: 'center', gap: 18 }}&gt;&#10;                &lt;Box style={{ width: 34, height: 34, borderRadius: 17, background: '#FFFFFF', alignItems: 'center', justifyContent: 'center' }}&gt;&#10;                    &lt;Text style={{ fontFamily: 'Georgia', fontSize: 17, fontWeight: 'bold', color: '#0C447C' }}&gt;5&lt;/Text&gt;&#10;                &lt;/Box&gt;&#10;                &lt;Text style={{ fontFamily: 'Microsoft YaHei', fontSize: 20, fontWeight: 'bold', color: '#0C447C', width: 168 }}&gt;贷后管理&lt;/Text&gt;&#10;                &lt;Text style={{ flex: 1, fontFamily: 'Microsoft YaHei', fontSize: 16, color: '#5A6672', lineHeight: 1.5 }}&gt;跟踪品种权状态、年费缴纳与权属变动，续评时可再提供支持&lt;/Text&gt;&#10;            &lt;/Box&gt;&#10;        &lt;/Box&gt;&#10;    &lt;/Box&gt;&#10;    &lt;Box style={{ width: '100%', height: 40, flexDirection: 'row', alignItems: 'center', justifyContent: 'space-between' }}&gt;&#10;        &lt;Text style={{ fontFamily: 'Microsoft YaHei', fontSize: 14, color: '#5A6672' }}&gt;海南国扬 · 无形资产评估专项&lt;/Text&gt;&#10;        &lt;Text style={{ fontFamily: 'Georgia', fontSize: 14, color: '#5A6672' }}&gt;09 / 1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685800" y="514350"/>
            <a:ext cx="44577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A1A1A"/>
                </a:solidFill>
                <a:latin typeface="Microsoft YaHei"/>
                <a:ea typeface="Microsoft YaHei"/>
              </a:rPr>
              <a:t>从一份报告到一笔资金：五步</a:t>
            </a:r>
            <a:endParaRPr/>
          </a:p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9982200" y="628650"/>
            <a:ext cx="1524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A6672"/>
                </a:solidFill>
                <a:latin typeface="Microsoft YaHei"/>
                <a:ea typeface="Microsoft YaHei"/>
              </a:rPr>
              <a:t>第一步就是我们做的事</a:t>
            </a:r>
            <a:endParaRPr/>
          </a:p>
        </p:txBody>
      </p:sp>
      <p:sp>
        <p:nvSpPr>
          <p:cNvPr id="286" name=""/>
          <p:cNvSpPr/>
          <p:nvPr/>
        </p:nvSpPr>
        <p:spPr>
          <a:xfrm rot="0" flipH="0" flipV="0">
            <a:off x="685800" y="1257300"/>
            <a:ext cx="3143250" cy="5029200"/>
          </a:xfrm>
          <a:prstGeom prst="roundRect">
            <a:avLst>
              <a:gd name="adj" fmla="val 3030"/>
            </a:avLst>
          </a:prstGeom>
          <a:solidFill>
            <a:srgbClr val="0C447C"/>
          </a:solidFill>
          <a:ln/>
        </p:spPr>
        <p:txBody>
          <a:bodyPr/>
          <a:p/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933450" y="1562100"/>
            <a:ext cx="2647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225">
                <a:solidFill>
                  <a:srgbClr val="85B7EB"/>
                </a:solidFill>
                <a:latin typeface="Microsoft YaHei"/>
                <a:ea typeface="Microsoft YaHei"/>
              </a:rPr>
              <a:t>资金路径</a:t>
            </a:r>
            <a:endParaRPr/>
          </a:p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933450" y="1885950"/>
            <a:ext cx="2647950" cy="10287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评估报告不是终点，</a:t>
            </a:r>
            <a:endParaRPr/>
          </a:p>
          <a:p>
            <a:pPr>
              <a:lnSpc>
                <a:spcPct val="150000"/>
              </a:lnSpc>
            </a:pP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它是起点</a:t>
            </a:r>
            <a:endParaRPr/>
          </a:p>
        </p:txBody>
      </p:sp>
      <p:sp>
        <p:nvSpPr>
          <p:cNvPr id="289" name=""/>
          <p:cNvSpPr/>
          <p:nvPr/>
        </p:nvSpPr>
        <p:spPr>
          <a:xfrm rot="0" flipH="0" flipV="0">
            <a:off x="933450" y="4914900"/>
            <a:ext cx="457200" cy="38100"/>
          </a:xfrm>
          <a:prstGeom prst="rect">
            <a:avLst/>
          </a:prstGeom>
          <a:solidFill>
            <a:srgbClr val="BA7517"/>
          </a:solidFill>
          <a:ln/>
        </p:spPr>
        <p:txBody>
          <a:bodyPr/>
          <a:p/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933450" y="5105400"/>
            <a:ext cx="2647950" cy="876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85B7EB"/>
                </a:solidFill>
                <a:latin typeface="Microsoft YaHei"/>
                <a:ea typeface="Microsoft YaHei"/>
              </a:rPr>
              <a:t>整条链上，只有第一步需要第三方机构出具报告。它做扎实了，后面四步才走得动。</a:t>
            </a:r>
            <a:endParaRPr/>
          </a:p>
        </p:txBody>
      </p:sp>
      <p:sp>
        <p:nvSpPr>
          <p:cNvPr id="291" name=""/>
          <p:cNvSpPr/>
          <p:nvPr/>
        </p:nvSpPr>
        <p:spPr>
          <a:xfrm rot="0" flipH="0" flipV="0">
            <a:off x="4152900" y="1257300"/>
            <a:ext cx="7353300" cy="914400"/>
          </a:xfrm>
          <a:prstGeom prst="roundRect">
            <a:avLst>
              <a:gd name="adj" fmla="val 8333"/>
            </a:avLst>
          </a:prstGeom>
          <a:solidFill>
            <a:srgbClr val="0C447C"/>
          </a:solidFill>
          <a:ln/>
        </p:spPr>
        <p:txBody>
          <a:bodyPr/>
          <a:p/>
        </p:txBody>
      </p:sp>
      <p:sp>
        <p:nvSpPr>
          <p:cNvPr id="292" name=""/>
          <p:cNvSpPr/>
          <p:nvPr/>
        </p:nvSpPr>
        <p:spPr>
          <a:xfrm rot="0" flipH="0" flipV="0">
            <a:off x="4362450" y="1552575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BA7517"/>
          </a:solidFill>
          <a:ln/>
        </p:spPr>
        <p:txBody>
          <a:bodyPr/>
          <a:p/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4486275" y="1619250"/>
            <a:ext cx="857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Georgia"/>
                <a:ea typeface="Georgia"/>
              </a:rPr>
              <a:t>1</a:t>
            </a:r>
            <a:endParaRPr/>
          </a:p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4857750" y="1600200"/>
            <a:ext cx="1600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价值评估</a:t>
            </a:r>
            <a:endParaRPr/>
          </a:p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6629400" y="1581150"/>
            <a:ext cx="46672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85B7EB"/>
                </a:solidFill>
                <a:latin typeface="Microsoft YaHei"/>
                <a:ea typeface="Microsoft YaHei"/>
              </a:rPr>
              <a:t>委托有资质的第三方机构，出具植物新品种权价值评估报告</a:t>
            </a:r>
            <a:endParaRPr/>
          </a:p>
        </p:txBody>
      </p:sp>
      <p:sp>
        <p:nvSpPr>
          <p:cNvPr id="296" name=""/>
          <p:cNvSpPr/>
          <p:nvPr/>
        </p:nvSpPr>
        <p:spPr>
          <a:xfrm rot="0" flipH="0" flipV="0">
            <a:off x="4152900" y="2286000"/>
            <a:ext cx="7353300" cy="914400"/>
          </a:xfrm>
          <a:prstGeom prst="roundRect">
            <a:avLst>
              <a:gd name="adj" fmla="val 8333"/>
            </a:avLst>
          </a:prstGeom>
          <a:solidFill>
            <a:srgbClr val="F4F6F9"/>
          </a:solidFill>
          <a:ln/>
        </p:spPr>
        <p:txBody>
          <a:bodyPr/>
          <a:p/>
        </p:txBody>
      </p:sp>
      <p:sp>
        <p:nvSpPr>
          <p:cNvPr id="297" name=""/>
          <p:cNvSpPr/>
          <p:nvPr/>
        </p:nvSpPr>
        <p:spPr>
          <a:xfrm rot="0" flipH="0" flipV="0">
            <a:off x="4362450" y="2581275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4476750" y="2647950"/>
            <a:ext cx="104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C447C"/>
                </a:solidFill>
                <a:latin typeface="Georgia"/>
                <a:ea typeface="Georgia"/>
              </a:rPr>
              <a:t>2</a:t>
            </a:r>
            <a:endParaRPr/>
          </a:p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4857750" y="2628900"/>
            <a:ext cx="1600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C447C"/>
                </a:solidFill>
                <a:latin typeface="Microsoft YaHei"/>
                <a:ea typeface="Microsoft YaHei"/>
              </a:rPr>
              <a:t>质押备案</a:t>
            </a:r>
            <a:endParaRPr/>
          </a:p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6629400" y="2609850"/>
            <a:ext cx="46672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5A6672"/>
                </a:solidFill>
                <a:latin typeface="Microsoft YaHei"/>
                <a:ea typeface="Microsoft YaHei"/>
              </a:rPr>
              <a:t>向农业农村部植物新品种保护办公室备案，取得《质押备案说明》</a:t>
            </a:r>
            <a:endParaRPr/>
          </a:p>
        </p:txBody>
      </p:sp>
      <p:sp>
        <p:nvSpPr>
          <p:cNvPr id="301" name=""/>
          <p:cNvSpPr/>
          <p:nvPr/>
        </p:nvSpPr>
        <p:spPr>
          <a:xfrm rot="0" flipH="0" flipV="0">
            <a:off x="4152900" y="3314700"/>
            <a:ext cx="7353300" cy="914400"/>
          </a:xfrm>
          <a:prstGeom prst="roundRect">
            <a:avLst>
              <a:gd name="adj" fmla="val 8333"/>
            </a:avLst>
          </a:prstGeom>
          <a:solidFill>
            <a:srgbClr val="F4F6F9"/>
          </a:solidFill>
          <a:ln/>
        </p:spPr>
        <p:txBody>
          <a:bodyPr/>
          <a:p/>
        </p:txBody>
      </p:sp>
      <p:sp>
        <p:nvSpPr>
          <p:cNvPr id="302" name=""/>
          <p:cNvSpPr/>
          <p:nvPr/>
        </p:nvSpPr>
        <p:spPr>
          <a:xfrm rot="0" flipH="0" flipV="0">
            <a:off x="4362450" y="3609975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4476750" y="3676650"/>
            <a:ext cx="104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C447C"/>
                </a:solidFill>
                <a:latin typeface="Georgia"/>
                <a:ea typeface="Georgia"/>
              </a:rPr>
              <a:t>3</a:t>
            </a:r>
            <a:endParaRPr/>
          </a:p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4857750" y="3657600"/>
            <a:ext cx="1600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C447C"/>
                </a:solidFill>
                <a:latin typeface="Microsoft YaHei"/>
                <a:ea typeface="Microsoft YaHei"/>
              </a:rPr>
              <a:t>质押登记</a:t>
            </a:r>
            <a:endParaRPr/>
          </a:p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6629400" y="3638550"/>
            <a:ext cx="46672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5A6672"/>
                </a:solidFill>
                <a:latin typeface="Microsoft YaHei"/>
                <a:ea typeface="Microsoft YaHei"/>
              </a:rPr>
              <a:t>在人民银行动产融资统一登记公示系统完成登记，保障质押权</a:t>
            </a:r>
            <a:endParaRPr/>
          </a:p>
        </p:txBody>
      </p:sp>
      <p:sp>
        <p:nvSpPr>
          <p:cNvPr id="306" name=""/>
          <p:cNvSpPr/>
          <p:nvPr/>
        </p:nvSpPr>
        <p:spPr>
          <a:xfrm rot="0" flipH="0" flipV="0">
            <a:off x="4152900" y="4343400"/>
            <a:ext cx="7353300" cy="914400"/>
          </a:xfrm>
          <a:prstGeom prst="roundRect">
            <a:avLst>
              <a:gd name="adj" fmla="val 8333"/>
            </a:avLst>
          </a:prstGeom>
          <a:solidFill>
            <a:srgbClr val="F4F6F9"/>
          </a:solidFill>
          <a:ln/>
        </p:spPr>
        <p:txBody>
          <a:bodyPr/>
          <a:p/>
        </p:txBody>
      </p:sp>
      <p:sp>
        <p:nvSpPr>
          <p:cNvPr id="307" name=""/>
          <p:cNvSpPr/>
          <p:nvPr/>
        </p:nvSpPr>
        <p:spPr>
          <a:xfrm rot="0" flipH="0" flipV="0">
            <a:off x="4362450" y="4638675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4467225" y="4705350"/>
            <a:ext cx="114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C447C"/>
                </a:solidFill>
                <a:latin typeface="Georgia"/>
                <a:ea typeface="Georgia"/>
              </a:rPr>
              <a:t>4</a:t>
            </a:r>
            <a:endParaRPr/>
          </a:p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4857750" y="4686300"/>
            <a:ext cx="1600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C447C"/>
                </a:solidFill>
                <a:latin typeface="Microsoft YaHei"/>
                <a:ea typeface="Microsoft YaHei"/>
              </a:rPr>
              <a:t>授信审批</a:t>
            </a:r>
            <a:endParaRPr/>
          </a:p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6629400" y="4667250"/>
            <a:ext cx="46672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5A6672"/>
                </a:solidFill>
                <a:latin typeface="Microsoft YaHei"/>
                <a:ea typeface="Microsoft YaHei"/>
              </a:rPr>
              <a:t>银行按推广规模、市占率、种植收益与产业带动能力核定额度</a:t>
            </a:r>
            <a:endParaRPr/>
          </a:p>
        </p:txBody>
      </p:sp>
      <p:sp>
        <p:nvSpPr>
          <p:cNvPr id="311" name=""/>
          <p:cNvSpPr/>
          <p:nvPr/>
        </p:nvSpPr>
        <p:spPr>
          <a:xfrm rot="0" flipH="0" flipV="0">
            <a:off x="4152900" y="5372100"/>
            <a:ext cx="7353300" cy="914400"/>
          </a:xfrm>
          <a:prstGeom prst="roundRect">
            <a:avLst>
              <a:gd name="adj" fmla="val 8333"/>
            </a:avLst>
          </a:prstGeom>
          <a:solidFill>
            <a:srgbClr val="F4F6F9"/>
          </a:solidFill>
          <a:ln/>
        </p:spPr>
        <p:txBody>
          <a:bodyPr/>
          <a:p/>
        </p:txBody>
      </p:sp>
      <p:sp>
        <p:nvSpPr>
          <p:cNvPr id="312" name=""/>
          <p:cNvSpPr/>
          <p:nvPr/>
        </p:nvSpPr>
        <p:spPr>
          <a:xfrm rot="0" flipH="0" flipV="0">
            <a:off x="4362450" y="5667375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4476750" y="5734050"/>
            <a:ext cx="104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C447C"/>
                </a:solidFill>
                <a:latin typeface="Georgia"/>
                <a:ea typeface="Georgia"/>
              </a:rPr>
              <a:t>5</a:t>
            </a:r>
            <a:endParaRPr/>
          </a:p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4857750" y="5715000"/>
            <a:ext cx="1600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C447C"/>
                </a:solidFill>
                <a:latin typeface="Microsoft YaHei"/>
                <a:ea typeface="Microsoft YaHei"/>
              </a:rPr>
              <a:t>贷后管理</a:t>
            </a:r>
            <a:endParaRPr/>
          </a:p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6629400" y="5695950"/>
            <a:ext cx="46672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5A6672"/>
                </a:solidFill>
                <a:latin typeface="Microsoft YaHei"/>
                <a:ea typeface="Microsoft YaHei"/>
              </a:rPr>
              <a:t>跟踪品种权状态、年费缴纳与权属变动，续评时可再提供支持</a:t>
            </a:r>
            <a:endParaRPr/>
          </a:p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685800" y="6400800"/>
            <a:ext cx="1714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A6672"/>
                </a:solidFill>
                <a:latin typeface="Microsoft YaHei"/>
                <a:ea typeface="Microsoft YaHei"/>
              </a:rPr>
              <a:t>海南国扬</a:t>
            </a:r>
            <a:r>
              <a:rPr lang="en-US" sz="1050">
                <a:solidFill>
                  <a:srgbClr val="5A6672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5A6672"/>
                </a:solidFill>
                <a:latin typeface="Microsoft YaHei"/>
                <a:ea typeface="Microsoft YaHei"/>
              </a:rPr>
              <a:t>无形资产评估专项</a:t>
            </a:r>
            <a:endParaRPr/>
          </a:p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11087100" y="6400800"/>
            <a:ext cx="419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A6672"/>
                </a:solidFill>
                <a:latin typeface="Georgia"/>
                <a:ea typeface="Georgia"/>
              </a:rPr>
              <a:t>09 / 14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3" name="" descr="&lt;Slide style={{ width: 1280, height: 720, padding: 0, position: 'relative', background: '#0C447C', overflow: 'hidden' }}&gt;&#10;    &lt;Box style={{ position: 'absolute', top: 0, left: 0, width: 14, height: 720, background: '#BA7517' }} /&gt;&#10;    &lt;Box style={{ position: 'absolute', right: -60, top: -40, width: 420, height: 420, borderRadius: 210, background: 'rgba(24, 95, 165, 0.55)' }} /&gt;&#10;    &lt;Box style={{ position: 'relative', zIndex: 2, width: 1280, height: 720, padding: '0 96px', flexDirection: 'column', justifyContent: 'center' }}&gt;&#10;        &lt;Text style={{ fontFamily: 'Microsoft YaHei', fontSize: 16, color: '#85B7EB', letterSpacing: 4, marginBottom: 20 }}&gt;第三章&lt;/Text&gt;&#10;        &lt;Text style={{ fontFamily: 'Georgia', fontSize: 140, fontWeight: 'bold', color: '#BA7517', lineHeight: 1.0, marginBottom: 22 }}&gt;03&lt;/Text&gt;&#10;        &lt;Text style={{ fontFamily: 'Microsoft YaHei', fontSize: 42, fontWeight: 'bold', color: '#FFFFFF', lineHeight: 1.3, marginBottom: 22 }}&gt;我们能为你做什么&lt;/Text&gt;&#10;        &lt;Box style={{ width: 76, height: 4, background: '#BA7517', marginBottom: 22 }} /&gt;&#10;        &lt;Text style={{ fontFamily: 'Microsoft YaHei', fontSize: 20, color: '#85B7EB', lineHeight: 1.65, width: 780 }}&gt;六项服务、三步启动。第一步成本最低，可以先做判断，再决定是否正式委托。&lt;/Text&gt;&#10;    &lt;/Box&gt;&#10;    &lt;Box style={{ position: 'absolute', left: 96, bottom: 34, zIndex: 2 }}&gt;&#10;        &lt;Text style={{ fontFamily: 'Georgia', fontSize: 14, color: '#85B7EB' }}&gt;10 / 1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C447C"/>
          </a:solidFill>
          <a:ln/>
        </p:spPr>
        <p:txBody>
          <a:bodyPr/>
          <a:p/>
        </p:txBody>
      </p:sp>
      <p:sp>
        <p:nvSpPr>
          <p:cNvPr id="15" name=""/>
          <p:cNvSpPr/>
          <p:nvPr/>
        </p:nvSpPr>
        <p:spPr>
          <a:xfrm rot="0" flipH="0" flipV="0">
            <a:off x="0" y="0"/>
            <a:ext cx="133350" cy="6858000"/>
          </a:xfrm>
          <a:prstGeom prst="rect">
            <a:avLst/>
          </a:prstGeom>
          <a:solidFill>
            <a:srgbClr val="BA7517"/>
          </a:solidFill>
          <a:ln/>
        </p:spPr>
        <p:txBody>
          <a:bodyPr/>
          <a:p/>
        </p:txBody>
      </p:sp>
      <p:sp>
        <p:nvSpPr>
          <p:cNvPr id="16" name=""/>
          <p:cNvSpPr/>
          <p:nvPr/>
        </p:nvSpPr>
        <p:spPr>
          <a:xfrm rot="0" flipH="0" flipV="0">
            <a:off x="8763000" y="-381000"/>
            <a:ext cx="4000500" cy="4000500"/>
          </a:xfrm>
          <a:custGeom>
            <a:pathLst>
              <a:path w="420" h="420">
                <a:moveTo>
                  <a:pt x="336" y="42"/>
                </a:moveTo>
                <a:lnTo>
                  <a:pt x="340" y="45"/>
                </a:lnTo>
                <a:lnTo>
                  <a:pt x="344" y="48"/>
                </a:lnTo>
                <a:lnTo>
                  <a:pt x="347" y="51"/>
                </a:lnTo>
                <a:lnTo>
                  <a:pt x="351" y="55"/>
                </a:lnTo>
                <a:lnTo>
                  <a:pt x="355" y="58"/>
                </a:lnTo>
                <a:lnTo>
                  <a:pt x="358" y="62"/>
                </a:lnTo>
                <a:lnTo>
                  <a:pt x="360" y="63"/>
                </a:lnTo>
                <a:lnTo>
                  <a:pt x="360" y="357"/>
                </a:lnTo>
                <a:lnTo>
                  <a:pt x="358" y="358"/>
                </a:lnTo>
                <a:lnTo>
                  <a:pt x="355" y="362"/>
                </a:lnTo>
                <a:lnTo>
                  <a:pt x="351" y="365"/>
                </a:lnTo>
                <a:lnTo>
                  <a:pt x="347" y="369"/>
                </a:lnTo>
                <a:lnTo>
                  <a:pt x="344" y="372"/>
                </a:lnTo>
                <a:lnTo>
                  <a:pt x="340" y="375"/>
                </a:lnTo>
                <a:lnTo>
                  <a:pt x="336" y="378"/>
                </a:lnTo>
                <a:lnTo>
                  <a:pt x="332" y="381"/>
                </a:lnTo>
                <a:lnTo>
                  <a:pt x="327" y="384"/>
                </a:lnTo>
                <a:lnTo>
                  <a:pt x="323" y="387"/>
                </a:lnTo>
                <a:lnTo>
                  <a:pt x="319" y="390"/>
                </a:lnTo>
                <a:lnTo>
                  <a:pt x="314" y="392"/>
                </a:lnTo>
                <a:lnTo>
                  <a:pt x="310" y="395"/>
                </a:lnTo>
                <a:lnTo>
                  <a:pt x="306" y="397"/>
                </a:lnTo>
                <a:lnTo>
                  <a:pt x="301" y="399"/>
                </a:lnTo>
                <a:lnTo>
                  <a:pt x="296" y="401"/>
                </a:lnTo>
                <a:lnTo>
                  <a:pt x="292" y="403"/>
                </a:lnTo>
                <a:lnTo>
                  <a:pt x="287" y="405"/>
                </a:lnTo>
                <a:lnTo>
                  <a:pt x="282" y="407"/>
                </a:lnTo>
                <a:lnTo>
                  <a:pt x="277" y="409"/>
                </a:lnTo>
                <a:lnTo>
                  <a:pt x="272" y="411"/>
                </a:lnTo>
                <a:lnTo>
                  <a:pt x="267" y="412"/>
                </a:lnTo>
                <a:lnTo>
                  <a:pt x="262" y="413"/>
                </a:lnTo>
                <a:lnTo>
                  <a:pt x="257" y="415"/>
                </a:lnTo>
                <a:lnTo>
                  <a:pt x="252" y="416"/>
                </a:lnTo>
                <a:lnTo>
                  <a:pt x="247" y="417"/>
                </a:lnTo>
                <a:lnTo>
                  <a:pt x="242" y="418"/>
                </a:lnTo>
                <a:lnTo>
                  <a:pt x="237" y="418"/>
                </a:lnTo>
                <a:lnTo>
                  <a:pt x="231" y="419"/>
                </a:lnTo>
                <a:lnTo>
                  <a:pt x="226" y="419"/>
                </a:lnTo>
                <a:lnTo>
                  <a:pt x="221" y="420"/>
                </a:lnTo>
                <a:lnTo>
                  <a:pt x="215" y="420"/>
                </a:lnTo>
                <a:lnTo>
                  <a:pt x="210" y="420"/>
                </a:lnTo>
                <a:lnTo>
                  <a:pt x="205" y="420"/>
                </a:lnTo>
                <a:lnTo>
                  <a:pt x="199" y="420"/>
                </a:lnTo>
                <a:lnTo>
                  <a:pt x="194" y="419"/>
                </a:lnTo>
                <a:lnTo>
                  <a:pt x="189" y="419"/>
                </a:lnTo>
                <a:lnTo>
                  <a:pt x="183" y="418"/>
                </a:lnTo>
                <a:lnTo>
                  <a:pt x="178" y="418"/>
                </a:lnTo>
                <a:lnTo>
                  <a:pt x="173" y="417"/>
                </a:lnTo>
                <a:lnTo>
                  <a:pt x="168" y="416"/>
                </a:lnTo>
                <a:lnTo>
                  <a:pt x="163" y="415"/>
                </a:lnTo>
                <a:lnTo>
                  <a:pt x="158" y="413"/>
                </a:lnTo>
                <a:lnTo>
                  <a:pt x="153" y="412"/>
                </a:lnTo>
                <a:lnTo>
                  <a:pt x="148" y="411"/>
                </a:lnTo>
                <a:lnTo>
                  <a:pt x="143" y="409"/>
                </a:lnTo>
                <a:lnTo>
                  <a:pt x="138" y="407"/>
                </a:lnTo>
                <a:lnTo>
                  <a:pt x="133" y="405"/>
                </a:lnTo>
                <a:lnTo>
                  <a:pt x="128" y="403"/>
                </a:lnTo>
                <a:lnTo>
                  <a:pt x="124" y="401"/>
                </a:lnTo>
                <a:lnTo>
                  <a:pt x="119" y="399"/>
                </a:lnTo>
                <a:lnTo>
                  <a:pt x="114" y="397"/>
                </a:lnTo>
                <a:lnTo>
                  <a:pt x="110" y="395"/>
                </a:lnTo>
                <a:lnTo>
                  <a:pt x="106" y="392"/>
                </a:lnTo>
                <a:lnTo>
                  <a:pt x="101" y="390"/>
                </a:lnTo>
                <a:lnTo>
                  <a:pt x="97" y="387"/>
                </a:lnTo>
                <a:lnTo>
                  <a:pt x="93" y="384"/>
                </a:lnTo>
                <a:lnTo>
                  <a:pt x="88" y="381"/>
                </a:lnTo>
                <a:lnTo>
                  <a:pt x="84" y="378"/>
                </a:lnTo>
                <a:lnTo>
                  <a:pt x="80" y="375"/>
                </a:lnTo>
                <a:lnTo>
                  <a:pt x="76" y="372"/>
                </a:lnTo>
                <a:lnTo>
                  <a:pt x="73" y="369"/>
                </a:lnTo>
                <a:lnTo>
                  <a:pt x="69" y="365"/>
                </a:lnTo>
                <a:lnTo>
                  <a:pt x="65" y="362"/>
                </a:lnTo>
                <a:lnTo>
                  <a:pt x="62" y="358"/>
                </a:lnTo>
                <a:lnTo>
                  <a:pt x="58" y="355"/>
                </a:lnTo>
                <a:lnTo>
                  <a:pt x="55" y="351"/>
                </a:lnTo>
                <a:lnTo>
                  <a:pt x="51" y="347"/>
                </a:lnTo>
                <a:lnTo>
                  <a:pt x="48" y="344"/>
                </a:lnTo>
                <a:lnTo>
                  <a:pt x="45" y="340"/>
                </a:lnTo>
                <a:lnTo>
                  <a:pt x="42" y="336"/>
                </a:lnTo>
                <a:lnTo>
                  <a:pt x="39" y="332"/>
                </a:lnTo>
                <a:lnTo>
                  <a:pt x="36" y="327"/>
                </a:lnTo>
                <a:lnTo>
                  <a:pt x="33" y="323"/>
                </a:lnTo>
                <a:lnTo>
                  <a:pt x="30" y="319"/>
                </a:lnTo>
                <a:lnTo>
                  <a:pt x="28" y="314"/>
                </a:lnTo>
                <a:lnTo>
                  <a:pt x="25" y="310"/>
                </a:lnTo>
                <a:lnTo>
                  <a:pt x="23" y="306"/>
                </a:lnTo>
                <a:lnTo>
                  <a:pt x="21" y="301"/>
                </a:lnTo>
                <a:lnTo>
                  <a:pt x="19" y="296"/>
                </a:lnTo>
                <a:lnTo>
                  <a:pt x="17" y="292"/>
                </a:lnTo>
                <a:lnTo>
                  <a:pt x="15" y="287"/>
                </a:lnTo>
                <a:lnTo>
                  <a:pt x="13" y="282"/>
                </a:lnTo>
                <a:lnTo>
                  <a:pt x="11" y="277"/>
                </a:lnTo>
                <a:lnTo>
                  <a:pt x="9" y="272"/>
                </a:lnTo>
                <a:lnTo>
                  <a:pt x="8" y="267"/>
                </a:lnTo>
                <a:lnTo>
                  <a:pt x="7" y="262"/>
                </a:lnTo>
                <a:lnTo>
                  <a:pt x="5" y="257"/>
                </a:lnTo>
                <a:lnTo>
                  <a:pt x="4" y="252"/>
                </a:lnTo>
                <a:lnTo>
                  <a:pt x="3" y="247"/>
                </a:lnTo>
                <a:lnTo>
                  <a:pt x="2" y="242"/>
                </a:lnTo>
                <a:lnTo>
                  <a:pt x="2" y="237"/>
                </a:lnTo>
                <a:lnTo>
                  <a:pt x="1" y="231"/>
                </a:lnTo>
                <a:lnTo>
                  <a:pt x="1" y="226"/>
                </a:lnTo>
                <a:lnTo>
                  <a:pt x="0" y="221"/>
                </a:lnTo>
                <a:lnTo>
                  <a:pt x="0" y="215"/>
                </a:lnTo>
                <a:lnTo>
                  <a:pt x="0" y="210"/>
                </a:lnTo>
                <a:lnTo>
                  <a:pt x="0" y="205"/>
                </a:lnTo>
                <a:lnTo>
                  <a:pt x="0" y="199"/>
                </a:lnTo>
                <a:lnTo>
                  <a:pt x="1" y="194"/>
                </a:lnTo>
                <a:lnTo>
                  <a:pt x="1" y="189"/>
                </a:lnTo>
                <a:lnTo>
                  <a:pt x="2" y="183"/>
                </a:lnTo>
                <a:lnTo>
                  <a:pt x="2" y="178"/>
                </a:lnTo>
                <a:lnTo>
                  <a:pt x="3" y="173"/>
                </a:lnTo>
                <a:lnTo>
                  <a:pt x="4" y="168"/>
                </a:lnTo>
                <a:lnTo>
                  <a:pt x="5" y="163"/>
                </a:lnTo>
                <a:lnTo>
                  <a:pt x="7" y="158"/>
                </a:lnTo>
                <a:lnTo>
                  <a:pt x="8" y="153"/>
                </a:lnTo>
                <a:lnTo>
                  <a:pt x="9" y="148"/>
                </a:lnTo>
                <a:lnTo>
                  <a:pt x="11" y="143"/>
                </a:lnTo>
                <a:lnTo>
                  <a:pt x="13" y="138"/>
                </a:lnTo>
                <a:lnTo>
                  <a:pt x="15" y="133"/>
                </a:lnTo>
                <a:lnTo>
                  <a:pt x="17" y="128"/>
                </a:lnTo>
                <a:lnTo>
                  <a:pt x="19" y="124"/>
                </a:lnTo>
                <a:lnTo>
                  <a:pt x="21" y="119"/>
                </a:lnTo>
                <a:lnTo>
                  <a:pt x="23" y="114"/>
                </a:lnTo>
                <a:lnTo>
                  <a:pt x="25" y="110"/>
                </a:lnTo>
                <a:lnTo>
                  <a:pt x="28" y="106"/>
                </a:lnTo>
                <a:lnTo>
                  <a:pt x="30" y="101"/>
                </a:lnTo>
                <a:lnTo>
                  <a:pt x="33" y="97"/>
                </a:lnTo>
                <a:lnTo>
                  <a:pt x="36" y="93"/>
                </a:lnTo>
                <a:lnTo>
                  <a:pt x="39" y="88"/>
                </a:lnTo>
                <a:lnTo>
                  <a:pt x="42" y="84"/>
                </a:lnTo>
                <a:lnTo>
                  <a:pt x="45" y="80"/>
                </a:lnTo>
                <a:lnTo>
                  <a:pt x="48" y="76"/>
                </a:lnTo>
                <a:lnTo>
                  <a:pt x="51" y="73"/>
                </a:lnTo>
                <a:lnTo>
                  <a:pt x="55" y="69"/>
                </a:lnTo>
                <a:lnTo>
                  <a:pt x="58" y="65"/>
                </a:lnTo>
                <a:lnTo>
                  <a:pt x="62" y="62"/>
                </a:lnTo>
                <a:lnTo>
                  <a:pt x="65" y="58"/>
                </a:lnTo>
                <a:lnTo>
                  <a:pt x="69" y="55"/>
                </a:lnTo>
                <a:lnTo>
                  <a:pt x="73" y="51"/>
                </a:lnTo>
                <a:lnTo>
                  <a:pt x="76" y="48"/>
                </a:lnTo>
                <a:lnTo>
                  <a:pt x="80" y="45"/>
                </a:lnTo>
                <a:lnTo>
                  <a:pt x="84" y="42"/>
                </a:lnTo>
                <a:lnTo>
                  <a:pt x="87" y="40"/>
                </a:lnTo>
                <a:lnTo>
                  <a:pt x="333" y="40"/>
                </a:lnTo>
                <a:close/>
              </a:path>
            </a:pathLst>
          </a:custGeom>
          <a:solidFill>
            <a:srgbClr val="185FA5">
              <a:alpha val="55000"/>
            </a:srgbClr>
          </a:solidFill>
          <a:ln/>
        </p:spPr>
        <p:txBody>
          <a:bodyPr/>
          <a:p/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914400" y="1600200"/>
            <a:ext cx="10363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300">
                <a:solidFill>
                  <a:srgbClr val="85B7EB"/>
                </a:solidFill>
                <a:latin typeface="Microsoft YaHei"/>
                <a:ea typeface="Microsoft YaHei"/>
              </a:rPr>
              <a:t>第三章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914400" y="1981200"/>
            <a:ext cx="10363200" cy="1600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0" b="1">
                <a:solidFill>
                  <a:srgbClr val="BA7517"/>
                </a:solidFill>
                <a:latin typeface="Georgia"/>
                <a:ea typeface="Georgia"/>
              </a:rPr>
              <a:t>03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914400" y="3790950"/>
            <a:ext cx="10363200" cy="6286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3150" b="1">
                <a:solidFill>
                  <a:srgbClr val="FFFFFF"/>
                </a:solidFill>
                <a:latin typeface="Microsoft YaHei"/>
                <a:ea typeface="Microsoft YaHei"/>
              </a:rPr>
              <a:t>我们能为你做什么</a:t>
            </a:r>
            <a:endParaRPr/>
          </a:p>
        </p:txBody>
      </p:sp>
      <p:sp>
        <p:nvSpPr>
          <p:cNvPr id="20" name=""/>
          <p:cNvSpPr/>
          <p:nvPr/>
        </p:nvSpPr>
        <p:spPr>
          <a:xfrm rot="0" flipH="0" flipV="0">
            <a:off x="914400" y="4629150"/>
            <a:ext cx="723900" cy="38100"/>
          </a:xfrm>
          <a:prstGeom prst="rect">
            <a:avLst/>
          </a:prstGeom>
          <a:solidFill>
            <a:srgbClr val="BA7517"/>
          </a:solidFill>
          <a:ln/>
        </p:spPr>
        <p:txBody>
          <a:bodyPr/>
          <a:p/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914400" y="4876800"/>
            <a:ext cx="7429500" cy="3810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500">
                <a:solidFill>
                  <a:srgbClr val="85B7EB"/>
                </a:solidFill>
                <a:latin typeface="Microsoft YaHei"/>
                <a:ea typeface="Microsoft YaHei"/>
              </a:rPr>
              <a:t>六项服务、三步启动。第一步成本最低，可以先做判断，再决定是否正式委托。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914400" y="6372225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5B7EB"/>
                </a:solidFill>
                <a:latin typeface="Georgia"/>
                <a:ea typeface="Georgia"/>
              </a:rPr>
              <a:t>10 / 14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23" name="" descr="&lt;Slide style={{ width: 1280, height: 720, padding: '20px 72px', background: '#FFFFFF', flexDirection: 'column' }}&gt;&#10;    &lt;Box style={{ width: '100%', height: 112, flexDirection: 'row', alignItems: 'center', justifyContent: 'space-between' }}&gt;&#10;        &lt;Text style={{ fontFamily: 'Microsoft YaHei', fontSize: 36, fontWeight: 'bold', color: '#1A1A1A' }}&gt;海南独享：确权与引种都在提速&lt;/Text&gt;&#10;        &lt;Text style={{ fontFamily: 'Microsoft YaHei', fontSize: 16, color: '#5A6672' }}&gt;这两项政策，别处没有&lt;/Text&gt;&#10;    &lt;/Box&gt;&#10;    &lt;Box style={{ width: '100%', height: 528, flexDirection: 'row', gap: 34 }}&gt;&#10;        &lt;Box style={{ width: 640, height: '100%', position: 'relative', borderRadius: 10, overflow: 'hidden' }}&gt;&#10;            &lt;Image src='assets/hainan_base.png' style={{ position: 'absolute', top: 0, left: 0, width: 640, height: 528, objectFit: 'cover' }} /&gt;&#10;            &lt;Box style={{ position: 'absolute', left: 0, right: 0, bottom: 0, background: 'rgba(12, 68, 124, 0.86)', padding: '16px 22px', flexDirection: 'column' }}&gt;&#10;                &lt;Text style={{ fontFamily: 'Microsoft YaHei', fontSize: 17, fontWeight: 'bold', color: '#FFFFFF', marginBottom: 5 }}&gt;全球动植物种质资源引进中转基地&lt;/Text&gt;&#10;                &lt;Text style={{ fontFamily: 'Microsoft YaHei', fontSize: 15, color: '#85B7EB' }}&gt;服务中心已在三亚崖州湾设立专属窗口，一站式协办&lt;/Text&gt;&#10;            &lt;/Box&gt;&#10;        &lt;/Box&gt;&#10;        &lt;Box style={{ flex: 1, height: '100%', flexDirection: 'column', gap: 16 }}&gt;&#10;            &lt;Box style={{ width: '100%', height: 202, background: '#0C447C', borderRadius: 10, padding: '22px 24px', flexDirection: 'column' }}&gt;&#10;                &lt;Text style={{ fontFamily: 'Microsoft YaHei', fontSize: 14, color: '#85B7EB', letterSpacing: 3, marginBottom: 12 }}&gt;一站式服务&lt;/Text&gt;&#10;                &lt;Box style={{ flexDirection: 'row', alignItems: 'flex-end', gap: 10, marginBottom: 12 }}&gt;&#10;                    &lt;Text style={{ fontFamily: 'Georgia', fontSize: 46, fontWeight: 'bold', color: '#BA7517', lineHeight: 1.0 }}&gt;85&lt;/Text&gt;&#10;                    &lt;Text style={{ fontFamily: 'Microsoft YaHei', fontSize: 22, fontWeight: 'bold', color: '#BA7517', marginBottom: 7 }}&gt;项&lt;/Text&gt;&#10;                &lt;/Box&gt;&#10;                &lt;Text style={{ fontFamily: 'Microsoft YaHei', fontSize: 15, color: '#85B7EB', lineHeight: 1.6 }}&gt;整合部省两级农业、林业、海关服务事项，面向全球市场主体免费提供公益服务。&lt;/Text&gt;&#10;            &lt;/Box&gt;&#10;            &lt;Box style={{ width: '100%', height: 190, background: '#F4F6F9', borderRadius: 10, padding: '22px 24px', flexDirection: 'column' }}&gt;&#10;                &lt;Text style={{ fontFamily: 'Microsoft YaHei', fontSize: 14, color: '#5A6672', letterSpacing: 3, marginBottom: 12 }}&gt;授权量增长&lt;/Text&gt;&#10;                &lt;Box style={{ flexDirection: 'row', alignItems: 'flex-end', gap: 8, marginBottom: 12 }}&gt;&#10;                    &lt;Text style={{ fontFamily: 'Georgia', fontSize: 46, fontWeight: 'bold', color: '#0C447C', lineHeight: 1.0 }}&gt;889&lt;/Text&gt;&#10;                    &lt;Text style={{ fontFamily: 'Microsoft YaHei', fontSize: 22, fontWeight: 'bold', color: '#0C447C', marginBottom: 7 }}&gt;%&lt;/Text&gt;&#10;                &lt;/Box&gt;&#10;                &lt;Text style={{ fontFamily: 'Microsoft YaHei', fontSize: 15, color: '#5A6672', lineHeight: 1.6 }}&gt;截至 2025 年底，海南农业植物新品种授权量较「十三五」增长至此。&lt;/Text&gt;&#10;            &lt;/Box&gt;&#10;            &lt;Box style={{ width: '100%', height: 104, background: '#FFFFFF', borderRadius: 10, padding: '18px 24px', flexDirection: 'column', border: '1px solid #85B7EB' }}&gt;&#10;                &lt;Text style={{ fontFamily: 'Microsoft YaHei', fontSize: 17, fontWeight: 'bold', color: '#0C447C', lineHeight: 1.5, marginBottom: 6 }}&gt;通关压缩 10—15 天，存活率 95% 以上&lt;/Text&gt;&#10;                &lt;Text style={{ fontFamily: 'Microsoft YaHei', fontSize: 15, color: '#5A6672', lineHeight: 1.5 }}&gt;全国首个同时承接种子进口等三项审批权的省份&lt;/Text&gt;&#10;            &lt;/Box&gt;&#10;        &lt;/Box&gt;&#10;    &lt;/Box&gt;&#10;    &lt;Box style={{ width: '100%', height: 40, flexDirection: 'row', alignItems: 'center', justifyContent: 'space-between' }}&gt;&#10;        &lt;Text style={{ fontFamily: 'Microsoft YaHei', fontSize: 14, color: '#5A6672' }}&gt;海南国扬 · 无形资产评估专项&lt;/Text&gt;&#10;        &lt;Text style={{ fontFamily: 'Georgia', fontSize: 14, color: '#5A6672' }}&gt;11 / 1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685800" y="514350"/>
            <a:ext cx="48006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A1A1A"/>
                </a:solidFill>
                <a:latin typeface="Microsoft YaHei"/>
                <a:ea typeface="Microsoft YaHei"/>
              </a:rPr>
              <a:t>海南独享：确权与引种都在提速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9982200" y="628650"/>
            <a:ext cx="1524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A6672"/>
                </a:solidFill>
                <a:latin typeface="Microsoft YaHei"/>
                <a:ea typeface="Microsoft YaHei"/>
              </a:rPr>
              <a:t>这两项政策，别处没有</a:t>
            </a:r>
            <a:endParaRPr/>
          </a:p>
        </p:txBody>
      </p:sp>
      <p:sp>
        <p:nvSpPr>
          <p:cNvPr id="27" name=""/>
          <p:cNvSpPr/>
          <p:nvPr/>
        </p:nvSpPr>
        <p:spPr>
          <a:xfrm rot="0" flipH="0" flipV="0">
            <a:off x="7105650" y="1257300"/>
            <a:ext cx="4400550" cy="1924050"/>
          </a:xfrm>
          <a:prstGeom prst="roundRect">
            <a:avLst>
              <a:gd name="adj" fmla="val 4950"/>
            </a:avLst>
          </a:prstGeom>
          <a:solidFill>
            <a:srgbClr val="0C447C"/>
          </a:solidFill>
          <a:ln/>
        </p:spPr>
        <p:txBody>
          <a:bodyPr/>
          <a:p/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7334250" y="1466850"/>
            <a:ext cx="3943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85B7EB"/>
                </a:solidFill>
                <a:latin typeface="Microsoft YaHei"/>
                <a:ea typeface="Microsoft YaHei"/>
              </a:rPr>
              <a:t>一站式服务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7334250" y="1743075"/>
            <a:ext cx="561975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450" b="1">
                <a:solidFill>
                  <a:srgbClr val="BA7517"/>
                </a:solidFill>
                <a:latin typeface="Georgia"/>
                <a:ea typeface="Georgia"/>
              </a:rPr>
              <a:t>85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7991475" y="1952625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BA7517"/>
                </a:solidFill>
                <a:latin typeface="Microsoft YaHei"/>
                <a:ea typeface="Microsoft YaHei"/>
              </a:rPr>
              <a:t>项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7334250" y="2390775"/>
            <a:ext cx="39433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85B7EB"/>
                </a:solidFill>
                <a:latin typeface="Microsoft YaHei"/>
                <a:ea typeface="Microsoft YaHei"/>
              </a:rPr>
              <a:t>整合部省两级农业、林业、海关服务事项，面向全球市场主体免费提供公益服务。</a:t>
            </a:r>
            <a:endParaRPr/>
          </a:p>
        </p:txBody>
      </p:sp>
      <p:sp>
        <p:nvSpPr>
          <p:cNvPr id="32" name=""/>
          <p:cNvSpPr/>
          <p:nvPr/>
        </p:nvSpPr>
        <p:spPr>
          <a:xfrm rot="0" flipH="0" flipV="0">
            <a:off x="7105650" y="3333750"/>
            <a:ext cx="4400550" cy="1809750"/>
          </a:xfrm>
          <a:prstGeom prst="roundRect">
            <a:avLst>
              <a:gd name="adj" fmla="val 5263"/>
            </a:avLst>
          </a:prstGeom>
          <a:solidFill>
            <a:srgbClr val="F4F6F9"/>
          </a:solidFill>
          <a:ln/>
        </p:spPr>
        <p:txBody>
          <a:bodyPr/>
          <a:p/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7334250" y="3543300"/>
            <a:ext cx="3943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5A6672"/>
                </a:solidFill>
                <a:latin typeface="Microsoft YaHei"/>
                <a:ea typeface="Microsoft YaHei"/>
              </a:rPr>
              <a:t>授权量增长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7334250" y="3819525"/>
            <a:ext cx="885825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450" b="1">
                <a:solidFill>
                  <a:srgbClr val="0C447C"/>
                </a:solidFill>
                <a:latin typeface="Georgia"/>
                <a:ea typeface="Georgia"/>
              </a:rPr>
              <a:t>889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8296275" y="4029075"/>
            <a:ext cx="2000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C447C"/>
                </a:solidFill>
                <a:latin typeface="Microsoft YaHei"/>
                <a:ea typeface="Microsoft YaHei"/>
              </a:rPr>
              <a:t>%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7334250" y="4467225"/>
            <a:ext cx="39433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A6672"/>
                </a:solidFill>
                <a:latin typeface="Microsoft YaHei"/>
                <a:ea typeface="Microsoft YaHei"/>
              </a:rPr>
              <a:t>截至</a:t>
            </a:r>
            <a:r>
              <a:rPr lang="en-US" sz="1125">
                <a:solidFill>
                  <a:srgbClr val="5A6672"/>
                </a:solidFill>
                <a:latin typeface="Microsoft YaHei"/>
                <a:ea typeface="Microsoft YaHei"/>
              </a:rPr>
              <a:t> 2025 </a:t>
            </a:r>
            <a:r>
              <a:rPr lang="zh-CN" sz="1125">
                <a:solidFill>
                  <a:srgbClr val="5A6672"/>
                </a:solidFill>
                <a:latin typeface="Microsoft YaHei"/>
                <a:ea typeface="Microsoft YaHei"/>
              </a:rPr>
              <a:t>年底，海南农业植物新品种授权量较「十三五」增长至此。</a:t>
            </a:r>
            <a:endParaRPr/>
          </a:p>
        </p:txBody>
      </p:sp>
      <p:sp>
        <p:nvSpPr>
          <p:cNvPr id="37" name=""/>
          <p:cNvSpPr/>
          <p:nvPr/>
        </p:nvSpPr>
        <p:spPr>
          <a:xfrm rot="0" flipH="0" flipV="0">
            <a:off x="7105650" y="5295900"/>
            <a:ext cx="4400550" cy="990600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85B7EB"/>
            </a:solidFill>
            <a:prstDash val="solid"/>
          </a:ln>
        </p:spPr>
        <p:txBody>
          <a:bodyPr/>
          <a:p/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7334250" y="5467350"/>
            <a:ext cx="394335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 b="1">
                <a:solidFill>
                  <a:srgbClr val="0C447C"/>
                </a:solidFill>
                <a:latin typeface="Microsoft YaHei"/>
                <a:ea typeface="Microsoft YaHei"/>
              </a:rPr>
              <a:t>通关压缩</a:t>
            </a:r>
            <a:r>
              <a:rPr lang="en-US" sz="1275" b="1">
                <a:solidFill>
                  <a:srgbClr val="0C447C"/>
                </a:solidFill>
                <a:latin typeface="Microsoft YaHei"/>
                <a:ea typeface="Microsoft YaHei"/>
              </a:rPr>
              <a:t> 10—15 </a:t>
            </a:r>
            <a:r>
              <a:rPr lang="zh-CN" sz="1275" b="1">
                <a:solidFill>
                  <a:srgbClr val="0C447C"/>
                </a:solidFill>
                <a:latin typeface="Microsoft YaHei"/>
                <a:ea typeface="Microsoft YaHei"/>
              </a:rPr>
              <a:t>天，存活率</a:t>
            </a:r>
            <a:r>
              <a:rPr lang="en-US" sz="1275" b="1">
                <a:solidFill>
                  <a:srgbClr val="0C447C"/>
                </a:solidFill>
                <a:latin typeface="Microsoft YaHei"/>
                <a:ea typeface="Microsoft YaHei"/>
              </a:rPr>
              <a:t> 95% </a:t>
            </a:r>
            <a:r>
              <a:rPr lang="zh-CN" sz="1275" b="1">
                <a:solidFill>
                  <a:srgbClr val="0C447C"/>
                </a:solidFill>
                <a:latin typeface="Microsoft YaHei"/>
                <a:ea typeface="Microsoft YaHei"/>
              </a:rPr>
              <a:t>以上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7334250" y="5819775"/>
            <a:ext cx="39433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A6672"/>
                </a:solidFill>
                <a:latin typeface="Microsoft YaHei"/>
                <a:ea typeface="Microsoft YaHei"/>
              </a:rPr>
              <a:t>全国首个同时承接种子进口等三项审批权的省份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685800" y="6400800"/>
            <a:ext cx="1714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A6672"/>
                </a:solidFill>
                <a:latin typeface="Microsoft YaHei"/>
                <a:ea typeface="Microsoft YaHei"/>
              </a:rPr>
              <a:t>海南国扬</a:t>
            </a:r>
            <a:r>
              <a:rPr lang="en-US" sz="1050">
                <a:solidFill>
                  <a:srgbClr val="5A6672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5A6672"/>
                </a:solidFill>
                <a:latin typeface="Microsoft YaHei"/>
                <a:ea typeface="Microsoft YaHei"/>
              </a:rPr>
              <a:t>无形资产评估专项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381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A6672"/>
                </a:solidFill>
                <a:latin typeface="Georgia"/>
                <a:ea typeface="Georgia"/>
              </a:rPr>
              <a:t>11 / 14</a:t>
            </a:r>
            <a:endParaRPr/>
          </a:p>
        </p:txBody>
      </p:sp>
      <p:sp>
        <p:nvSpPr>
          <p:cNvPr id="42" name=""/>
          <p:cNvSpPr/>
          <p:nvPr/>
        </p:nvSpPr>
        <p:spPr>
          <a:xfrm rot="0" flipH="0" flipV="0">
            <a:off x="685800" y="1257300"/>
            <a:ext cx="6096000" cy="5029200"/>
          </a:xfrm>
          <a:prstGeom prst="roundRect">
            <a:avLst>
              <a:gd name="adj" fmla="val 1894"/>
            </a:avLst>
          </a:prstGeom>
          <a:ln/>
        </p:spPr>
        <p:txBody>
          <a:bodyPr/>
          <a:p/>
        </p:txBody>
      </p:sp>
      <p:pic>
        <p:nvPicPr>
          <p:cNvPr id="43" name=""/>
          <p:cNvPicPr>
            <a:picLocks noChangeAspect="1"/>
          </p:cNvPicPr>
          <p:nvPr/>
        </p:nvPicPr>
        <p:blipFill>
          <a:blip r:embed="rId1"/>
          <a:srcRect l="13660" t="0" r="13660" b="0"/>
          <a:stretch>
            <a:fillRect/>
          </a:stretch>
        </p:blipFill>
        <p:spPr>
          <a:xfrm rot="0" flipH="0" flipV="0">
            <a:off x="685800" y="1257300"/>
            <a:ext cx="6096000" cy="5029200"/>
          </a:xfrm>
          <a:custGeom>
            <a:pathLst>
              <a:path w="640" h="528">
                <a:moveTo>
                  <a:pt x="630" y="0"/>
                </a:moveTo>
                <a:cubicBezTo>
                  <a:pt x="636" y="0"/>
                  <a:pt x="640" y="5"/>
                  <a:pt x="640" y="10"/>
                </a:cubicBezTo>
                <a:lnTo>
                  <a:pt x="640" y="518"/>
                </a:lnTo>
                <a:cubicBezTo>
                  <a:pt x="640" y="524"/>
                  <a:pt x="636" y="528"/>
                  <a:pt x="630" y="528"/>
                </a:cubicBezTo>
                <a:lnTo>
                  <a:pt x="10" y="528"/>
                </a:lnTo>
                <a:cubicBezTo>
                  <a:pt x="4" y="528"/>
                  <a:pt x="0" y="524"/>
                  <a:pt x="0" y="518"/>
                </a:cubicBezTo>
                <a:lnTo>
                  <a:pt x="0" y="10"/>
                </a:lnTo>
                <a:cubicBezTo>
                  <a:pt x="0" y="4"/>
                  <a:pt x="4" y="0"/>
                  <a:pt x="10" y="0"/>
                </a:cubicBezTo>
                <a:lnTo>
                  <a:pt x="630" y="0"/>
                </a:lnTo>
                <a:close/>
              </a:path>
            </a:pathLst>
          </a:custGeom>
          <a:ln/>
        </p:spPr>
      </p:pic>
      <p:sp>
        <p:nvSpPr>
          <p:cNvPr id="44" name=""/>
          <p:cNvSpPr/>
          <p:nvPr/>
        </p:nvSpPr>
        <p:spPr>
          <a:xfrm rot="0" flipH="0" flipV="0">
            <a:off x="685800" y="5562600"/>
            <a:ext cx="6096000" cy="723900"/>
          </a:xfrm>
          <a:custGeom>
            <a:pathLst>
              <a:path w="640" h="76">
                <a:moveTo>
                  <a:pt x="640" y="66"/>
                </a:moveTo>
                <a:cubicBezTo>
                  <a:pt x="640" y="72"/>
                  <a:pt x="636" y="76"/>
                  <a:pt x="630" y="76"/>
                </a:cubicBezTo>
                <a:lnTo>
                  <a:pt x="10" y="76"/>
                </a:lnTo>
                <a:cubicBezTo>
                  <a:pt x="4" y="76"/>
                  <a:pt x="0" y="72"/>
                  <a:pt x="0" y="66"/>
                </a:cubicBezTo>
                <a:lnTo>
                  <a:pt x="0" y="0"/>
                </a:lnTo>
                <a:lnTo>
                  <a:pt x="640" y="0"/>
                </a:lnTo>
                <a:close/>
              </a:path>
            </a:pathLst>
          </a:custGeom>
          <a:solidFill>
            <a:srgbClr val="0C447C">
              <a:alpha val="86000"/>
            </a:srgbClr>
          </a:solidFill>
          <a:ln/>
        </p:spPr>
        <p:txBody>
          <a:bodyPr/>
          <a:p/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895350" y="5715000"/>
            <a:ext cx="5676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全球动植物种质资源引进中转基地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895350" y="5962650"/>
            <a:ext cx="5676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5B7EB"/>
                </a:solidFill>
                <a:latin typeface="Microsoft YaHei"/>
                <a:ea typeface="Microsoft YaHei"/>
              </a:rPr>
              <a:t>服务中心已在三亚崖州湾设立专属窗口，一站式协办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47" name="" descr="&lt;Slide style={{ width: 1280, height: 720, padding: '20px 72px', background: '#FFFFFF', flexDirection: 'column' }}&gt;&#10;    &lt;Box style={{ width: '100%', height: 112, flexDirection: 'row', alignItems: 'center', justifyContent: 'space-between' }}&gt;&#10;        &lt;Text style={{ fontFamily: 'Microsoft YaHei', fontSize: 36, fontWeight: 'bold', color: '#1A1A1A' }}&gt;六项服务，单项可委托也可组合&lt;/Text&gt;&#10;        &lt;Text style={{ fontFamily: 'Microsoft YaHei', fontSize: 16, color: '#5A6672' }}&gt;每一项都以书面交付物收尾&lt;/Text&gt;&#10;    &lt;/Box&gt;&#10;    &lt;Box style={{ width: '100%', height: 528, flexDirection: 'column', gap: 20 }}&gt;&#10;        &lt;Box style={{ width: '100%', height: 254, flexDirection: 'row', gap: 20 }}&gt;&#10;            &lt;Box style={{ flex: 1, height: '100%', background: '#F4F6F9', borderRadius: 10, padding: '20px 22px', flexDirection: 'column' }}&gt;&#10;                &lt;FAIcon name='search' style={{ fill: '#0C447C', width: 34, height: 34, marginBottom: 12 }} /&gt;&#10;                &lt;Text style={{ fontFamily: 'Microsoft YaHei', fontSize: 20, fontWeight: 'bold', color: '#0C447C', lineHeight: 1.4, marginBottom: 8 }}&gt;评估对象辨析与可行性意见&lt;/Text&gt;&#10;                &lt;Text style={{ fontFamily: 'Microsoft YaHei', fontSize: 15, color: '#5A6672', lineHeight: 1.6, marginBottom: 8 }}&gt;交付：对象定性、权属路径、方法建议与所需资料清单&lt;/Text&gt;&#10;                &lt;Text style={{ fontFamily: 'Microsoft YaHei', fontSize: 14, color: '#5A6672', lineHeight: 1.5 }}&gt;适用：首次接触，或权属尚未取得时&lt;/Text&gt;&#10;                &lt;Box style={{ marginTop: 'auto', flexDirection: 'row', alignItems: 'center', gap: 6 }}&gt;&#10;                    &lt;FAIcon name='clock' style={{ fill: '#BA7517', width: 14, height: 14 }} /&gt;&#10;                    &lt;Text style={{ fontFamily: 'Microsoft YaHei', fontSize: 14, color: '#BA7517' }}&gt;3—5 个工作日&lt;/Text&gt;&#10;                &lt;/Box&gt;&#10;            &lt;/Box&gt;&#10;            &lt;Box style={{ flex: 1, height: '100%', background: '#F4F6F9', borderRadius: 10, padding: '20px 22px', flexDirection: 'column' }}&gt;&#10;                &lt;FAIcon name='certificate' style={{ fill: '#0C447C', width: 34, height: 34, marginBottom: 12 }} /&gt;&#10;                &lt;Text style={{ fontFamily: 'Microsoft YaHei', fontSize: 20, fontWeight: 'bold', color: '#0C447C', lineHeight: 1.4, marginBottom: 8 }}&gt;植物新品种权价值评估&lt;/Text&gt;&#10;                &lt;Text style={{ fontFamily: 'Microsoft YaHei', fontSize: 15, color: '#5A6672', lineHeight: 1.6, marginBottom: 8 }}&gt;交付：可用于质押、许可、转让与出资的正式评估报告&lt;/Text&gt;&#10;                &lt;Text style={{ fontFamily: 'Microsoft YaHei', fontSize: 14, color: '#5A6672', lineHeight: 1.5 }}&gt;适用：已取得品种权证书且已有推广数据&lt;/Text&gt;&#10;                &lt;Box style={{ marginTop: 'auto', flexDirection: 'row', alignItems: 'center', gap: 6 }}&gt;&#10;                    &lt;FAIcon name='clock' style={{ fill: '#BA7517', width: 14, height: 14 }} /&gt;&#10;                    &lt;Text style={{ fontFamily: 'Microsoft YaHei', fontSize: 14, color: '#BA7517' }}&gt;10—20 个工作日&lt;/Text&gt;&#10;                &lt;/Box&gt;&#10;            &lt;/Box&gt;&#10;            &lt;Box style={{ flex: 1, height: '100%', background: '#F4F6F9', borderRadius: 10, padding: '20px 22px', flexDirection: 'column' }}&gt;&#10;                &lt;FAIcon name='seedling' style={{ fill: '#0C447C', width: 34, height: 34, marginBottom: 12 }} /&gt;&#10;                &lt;Text style={{ fontFamily: 'Microsoft YaHei', fontSize: 20, fontWeight: 'bold', color: '#0C447C', lineHeight: 1.4, marginBottom: 8 }}&gt;种质资源价值评估&lt;/Text&gt;&#10;                &lt;Text style={{ fontFamily: 'Microsoft YaHei', fontSize: 15, color: '#5A6672', lineHeight: 1.6, marginBottom: 8 }}&gt;交付：以成本法为主的价值报告，含增量收益参考&lt;/Text&gt;&#10;                &lt;Text style={{ fontFamily: 'Microsoft YaHei', fontSize: 14, color: '#5A6672', lineHeight: 1.5 }}&gt;适用：未确权的引进材料、亲本与中间品系&lt;/Text&gt;&#10;                &lt;Box style={{ marginTop: 'auto', flexDirection: 'row', alignItems: 'center', gap: 6 }}&gt;&#10;                    &lt;FAIcon name='clock' style={{ fill: '#BA7517', width: 14, height: 14 }} /&gt;&#10;                    &lt;Text style={{ fontFamily: 'Microsoft YaHei', fontSize: 14, color: '#BA7517' }}&gt;10—15 个工作日&lt;/Text&gt;&#10;                &lt;/Box&gt;&#10;            &lt;/Box&gt;&#10;        &lt;/Box&gt;&#10;        &lt;Box style={{ width: '100%', height: 254, flexDirection: 'row', gap: 20 }}&gt;&#10;            &lt;Box style={{ flex: 1, height: '100%', background: '#F4F6F9', borderRadius: 10, padding: '20px 22px', flexDirection: 'column' }}&gt;&#10;                &lt;FAIcon name='landmark' style={{ fill: '#0C447C', width: 34, height: 34, marginBottom: 12 }} /&gt;&#10;                &lt;Text style={{ fontFamily: 'Microsoft YaHei', fontSize: 20, fontWeight: 'bold', color: '#0C447C', lineHeight: 1.4, marginBottom: 8 }}&gt;质押融资专项估值&lt;/Text&gt;&#10;                &lt;Text style={{ fontFamily: 'Microsoft YaHei', fontSize: 15, color: '#5A6672', lineHeight: 1.6, marginBottom: 8 }}&gt;交付：银行口径评估报告，并协助准备备案与登记材料&lt;/Text&gt;&#10;                &lt;Text style={{ fontFamily: 'Microsoft YaHei', fontSize: 14, color: '#5A6672', lineHeight: 1.5 }}&gt;适用：拟以品种权向银行申请授信&lt;/Text&gt;&#10;                &lt;Box style={{ marginTop: 'auto', flexDirection: 'row', alignItems: 'center', gap: 6 }}&gt;&#10;                    &lt;FAIcon name='clock' style={{ fill: '#BA7517', width: 14, height: 14 }} /&gt;&#10;                    &lt;Text style={{ fontFamily: 'Microsoft YaHei', fontSize: 14, color: '#BA7517' }}&gt;15—25 个工作日&lt;/Text&gt;&#10;                &lt;/Box&gt;&#10;            &lt;/Box&gt;&#10;            &lt;Box style={{ flex: 1, height: '100%', background: '#F4F6F9', borderRadius: 10, padding: '20px 22px', flexDirection: 'column' }}&gt;&#10;                &lt;FAIcon name='balance-scale' style={{ fill: '#0C447C', width: 34, height: 34, marginBottom: 12 }} /&gt;&#10;                &lt;Text style={{ fontFamily: 'Microsoft YaHei', fontSize: 20, fontWeight: 'bold', color: '#0C447C', lineHeight: 1.4, marginBottom: 8 }}&gt;作价出资与技术入股&lt;/Text&gt;&#10;                &lt;Text style={{ fontFamily: 'Microsoft YaHei', fontSize: 15, color: '#5A6672', lineHeight: 1.6, marginBottom: 8 }}&gt;交付：出资额公允性说明，附递延纳税政策提示&lt;/Text&gt;&#10;                &lt;Text style={{ fontFamily: 'Microsoft YaHei', fontSize: 14, color: '#5A6672', lineHeight: 1.5 }}&gt;适用：以品种权或育种技术对外投资、合资&lt;/Text&gt;&#10;                &lt;Box style={{ marginTop: 'auto', flexDirection: 'row', alignItems: 'center', gap: 6 }}&gt;&#10;                    &lt;FAIcon name='clock' style={{ fill: '#BA7517', width: 14, height: 14 }} /&gt;&#10;                    &lt;Text style={{ fontFamily: 'Microsoft YaHei', fontSize: 14, color: '#BA7517' }}&gt;15—25 个工作日&lt;/Text&gt;&#10;                &lt;/Box&gt;&#10;            &lt;/Box&gt;&#10;            &lt;Box style={{ flex: 1, height: '100%', background: '#F4F6F9', borderRadius: 10, padding: '20px 22px', flexDirection: 'column' }}&gt;&#10;                &lt;FAIcon name='globe' style={{ fill: '#0C447C', width: 34, height: 34, marginBottom: 12 }} /&gt;&#10;                &lt;Text style={{ fontFamily: 'Microsoft YaHei', fontSize: 20, fontWeight: 'bold', color: '#0C447C', lineHeight: 1.4, marginBottom: 8 }}&gt;引种与确权配套咨询&lt;/Text&gt;&#10;                &lt;Text style={{ fontFamily: 'Microsoft YaHei', fontSize: 15, color: '#5A6672', lineHeight: 1.6, marginBottom: 8 }}&gt;交付：引种政策适用与确权路径建议，含服务事项对照表&lt;/Text&gt;&#10;                &lt;Text style={{ fontFamily: 'Microsoft YaHei', fontSize: 14, color: '#5A6672', lineHeight: 1.5 }}&gt;适用：境外引种合规、检疫测试与品种权申请&lt;/Text&gt;&#10;                &lt;Box style={{ marginTop: 'auto', flexDirection: 'row', alignItems: 'center', gap: 6 }}&gt;&#10;                    &lt;FAIcon name='clock' style={{ fill: '#BA7517', width: 14, height: 14 }} /&gt;&#10;                    &lt;Text style={{ fontFamily: 'Microsoft YaHei', fontSize: 14, color: '#BA7517' }}&gt;5—10 个工作日&lt;/Text&gt;&#10;                &lt;/Box&gt;&#10;            &lt;/Box&gt;&#10;        &lt;/Box&gt;&#10;    &lt;/Box&gt;&#10;    &lt;Box style={{ width: '100%', height: 40, flexDirection: 'row', alignItems: 'center', justifyContent: 'space-between' }}&gt;&#10;        &lt;Text style={{ fontFamily: 'Microsoft YaHei', fontSize: 14, color: '#5A6672' }}&gt;海南国扬 · 无形资产评估专项&lt;/Text&gt;&#10;        &lt;Text style={{ fontFamily: 'Georgia', fontSize: 14, color: '#5A6672' }}&gt;12 / 1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685800" y="514350"/>
            <a:ext cx="48006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A1A1A"/>
                </a:solidFill>
                <a:latin typeface="Microsoft YaHei"/>
                <a:ea typeface="Microsoft YaHei"/>
              </a:rPr>
              <a:t>六项服务，单项可委托也可组合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9677400" y="628650"/>
            <a:ext cx="1828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A6672"/>
                </a:solidFill>
                <a:latin typeface="Microsoft YaHei"/>
                <a:ea typeface="Microsoft YaHei"/>
              </a:rPr>
              <a:t>每一项都以书面交付物收尾</a:t>
            </a:r>
            <a:endParaRPr/>
          </a:p>
        </p:txBody>
      </p:sp>
      <p:sp>
        <p:nvSpPr>
          <p:cNvPr id="51" name=""/>
          <p:cNvSpPr/>
          <p:nvPr/>
        </p:nvSpPr>
        <p:spPr>
          <a:xfrm rot="0" flipH="0" flipV="0">
            <a:off x="685800" y="1257300"/>
            <a:ext cx="3476625" cy="2419350"/>
          </a:xfrm>
          <a:prstGeom prst="roundRect">
            <a:avLst>
              <a:gd name="adj" fmla="val 3937"/>
            </a:avLst>
          </a:prstGeom>
          <a:solidFill>
            <a:srgbClr val="F4F6F9"/>
          </a:solidFill>
          <a:ln/>
        </p:spPr>
        <p:txBody>
          <a:bodyPr/>
          <a:p/>
        </p:txBody>
      </p:sp>
      <p:pic>
        <p:nvPicPr>
          <p:cNvPr id="5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95350" y="1447800"/>
            <a:ext cx="323850" cy="323850"/>
          </a:xfrm>
          <a:prstGeom prst="rect">
            <a:avLst/>
          </a:prstGeom>
          <a:ln/>
        </p:spPr>
      </p:pic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895350" y="1885950"/>
            <a:ext cx="3057525" cy="3238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500" b="1">
                <a:solidFill>
                  <a:srgbClr val="0C447C"/>
                </a:solidFill>
                <a:latin typeface="Microsoft YaHei"/>
                <a:ea typeface="Microsoft YaHei"/>
              </a:rPr>
              <a:t>评估对象辨析与可行性意见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895350" y="2286000"/>
            <a:ext cx="305752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A6672"/>
                </a:solidFill>
                <a:latin typeface="Microsoft YaHei"/>
                <a:ea typeface="Microsoft YaHei"/>
              </a:rPr>
              <a:t>交付：对象定性、权属路径、方法建议与所需资料清单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895350" y="2914650"/>
            <a:ext cx="3057525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A6672"/>
                </a:solidFill>
                <a:latin typeface="Microsoft YaHei"/>
                <a:ea typeface="Microsoft YaHei"/>
              </a:rPr>
              <a:t>适用：首次接触，或权属尚未取得时</a:t>
            </a:r>
            <a:endParaRPr/>
          </a:p>
        </p:txBody>
      </p:sp>
      <p:pic>
        <p:nvPicPr>
          <p:cNvPr id="5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895350" y="3343275"/>
            <a:ext cx="133350" cy="133350"/>
          </a:xfrm>
          <a:prstGeom prst="rect">
            <a:avLst/>
          </a:prstGeom>
          <a:ln/>
        </p:spPr>
      </p:pic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1085850" y="3324225"/>
            <a:ext cx="876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BA7517"/>
                </a:solidFill>
                <a:latin typeface="Microsoft YaHei"/>
                <a:ea typeface="Microsoft YaHei"/>
              </a:rPr>
              <a:t>3—5 </a:t>
            </a:r>
            <a:r>
              <a:rPr lang="zh-CN" sz="1050">
                <a:solidFill>
                  <a:srgbClr val="BA7517"/>
                </a:solidFill>
                <a:latin typeface="Microsoft YaHei"/>
                <a:ea typeface="Microsoft YaHei"/>
              </a:rPr>
              <a:t>个工作日</a:t>
            </a:r>
            <a:endParaRPr/>
          </a:p>
        </p:txBody>
      </p:sp>
      <p:sp>
        <p:nvSpPr>
          <p:cNvPr id="58" name=""/>
          <p:cNvSpPr/>
          <p:nvPr/>
        </p:nvSpPr>
        <p:spPr>
          <a:xfrm rot="0" flipH="0" flipV="0">
            <a:off x="4352925" y="1257300"/>
            <a:ext cx="3486150" cy="2419350"/>
          </a:xfrm>
          <a:prstGeom prst="roundRect">
            <a:avLst>
              <a:gd name="adj" fmla="val 3937"/>
            </a:avLst>
          </a:prstGeom>
          <a:solidFill>
            <a:srgbClr val="F4F6F9"/>
          </a:solidFill>
          <a:ln/>
        </p:spPr>
        <p:txBody>
          <a:bodyPr/>
          <a:p/>
        </p:txBody>
      </p:sp>
      <p:pic>
        <p:nvPicPr>
          <p:cNvPr id="5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4562475" y="1447800"/>
            <a:ext cx="323850" cy="323850"/>
          </a:xfrm>
          <a:prstGeom prst="rect">
            <a:avLst/>
          </a:prstGeom>
          <a:ln/>
        </p:spPr>
      </p:pic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4562475" y="1885950"/>
            <a:ext cx="3067050" cy="3238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500" b="1">
                <a:solidFill>
                  <a:srgbClr val="0C447C"/>
                </a:solidFill>
                <a:latin typeface="Microsoft YaHei"/>
                <a:ea typeface="Microsoft YaHei"/>
              </a:rPr>
              <a:t>植物新品种权价值评估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4562475" y="2286000"/>
            <a:ext cx="30670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A6672"/>
                </a:solidFill>
                <a:latin typeface="Microsoft YaHei"/>
                <a:ea typeface="Microsoft YaHei"/>
              </a:rPr>
              <a:t>交付：可用于质押、许可、转让与出资的正式评估报告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4562475" y="2914650"/>
            <a:ext cx="30670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A6672"/>
                </a:solidFill>
                <a:latin typeface="Microsoft YaHei"/>
                <a:ea typeface="Microsoft YaHei"/>
              </a:rPr>
              <a:t>适用：已取得品种权证书且已有推广数据</a:t>
            </a:r>
            <a:endParaRPr/>
          </a:p>
        </p:txBody>
      </p:sp>
      <p:pic>
        <p:nvPicPr>
          <p:cNvPr id="6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562475" y="3343275"/>
            <a:ext cx="133350" cy="133350"/>
          </a:xfrm>
          <a:prstGeom prst="rect">
            <a:avLst/>
          </a:prstGeom>
          <a:ln/>
        </p:spPr>
      </p:pic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4752975" y="3324225"/>
            <a:ext cx="1038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BA7517"/>
                </a:solidFill>
                <a:latin typeface="Microsoft YaHei"/>
                <a:ea typeface="Microsoft YaHei"/>
              </a:rPr>
              <a:t>10—20 </a:t>
            </a:r>
            <a:r>
              <a:rPr lang="zh-CN" sz="1050">
                <a:solidFill>
                  <a:srgbClr val="BA7517"/>
                </a:solidFill>
                <a:latin typeface="Microsoft YaHei"/>
                <a:ea typeface="Microsoft YaHei"/>
              </a:rPr>
              <a:t>个工作日</a:t>
            </a:r>
            <a:endParaRPr/>
          </a:p>
        </p:txBody>
      </p:sp>
      <p:sp>
        <p:nvSpPr>
          <p:cNvPr id="65" name=""/>
          <p:cNvSpPr/>
          <p:nvPr/>
        </p:nvSpPr>
        <p:spPr>
          <a:xfrm rot="0" flipH="0" flipV="0">
            <a:off x="8029575" y="1257300"/>
            <a:ext cx="3476625" cy="2419350"/>
          </a:xfrm>
          <a:prstGeom prst="roundRect">
            <a:avLst>
              <a:gd name="adj" fmla="val 3937"/>
            </a:avLst>
          </a:prstGeom>
          <a:solidFill>
            <a:srgbClr val="F4F6F9"/>
          </a:solidFill>
          <a:ln/>
        </p:spPr>
        <p:txBody>
          <a:bodyPr/>
          <a:p/>
        </p:txBody>
      </p:sp>
      <p:pic>
        <p:nvPicPr>
          <p:cNvPr id="6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8239125" y="1447800"/>
            <a:ext cx="323850" cy="323850"/>
          </a:xfrm>
          <a:prstGeom prst="rect">
            <a:avLst/>
          </a:prstGeom>
          <a:ln/>
        </p:spPr>
      </p:pic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8239125" y="1885950"/>
            <a:ext cx="3057525" cy="3238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500" b="1">
                <a:solidFill>
                  <a:srgbClr val="0C447C"/>
                </a:solidFill>
                <a:latin typeface="Microsoft YaHei"/>
                <a:ea typeface="Microsoft YaHei"/>
              </a:rPr>
              <a:t>种质资源价值评估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8239125" y="2286000"/>
            <a:ext cx="305752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A6672"/>
                </a:solidFill>
                <a:latin typeface="Microsoft YaHei"/>
                <a:ea typeface="Microsoft YaHei"/>
              </a:rPr>
              <a:t>交付：以成本法为主的价值报告，含增量收益参考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8239125" y="2914650"/>
            <a:ext cx="3057525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A6672"/>
                </a:solidFill>
                <a:latin typeface="Microsoft YaHei"/>
                <a:ea typeface="Microsoft YaHei"/>
              </a:rPr>
              <a:t>适用：未确权的引进材料、亲本与中间品系</a:t>
            </a:r>
            <a:endParaRPr/>
          </a:p>
        </p:txBody>
      </p:sp>
      <p:pic>
        <p:nvPicPr>
          <p:cNvPr id="7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8239125" y="3343275"/>
            <a:ext cx="133350" cy="133350"/>
          </a:xfrm>
          <a:prstGeom prst="rect">
            <a:avLst/>
          </a:prstGeom>
          <a:ln/>
        </p:spPr>
      </p:pic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8429625" y="3324225"/>
            <a:ext cx="1038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BA7517"/>
                </a:solidFill>
                <a:latin typeface="Microsoft YaHei"/>
                <a:ea typeface="Microsoft YaHei"/>
              </a:rPr>
              <a:t>10—15 </a:t>
            </a:r>
            <a:r>
              <a:rPr lang="zh-CN" sz="1050">
                <a:solidFill>
                  <a:srgbClr val="BA7517"/>
                </a:solidFill>
                <a:latin typeface="Microsoft YaHei"/>
                <a:ea typeface="Microsoft YaHei"/>
              </a:rPr>
              <a:t>个工作日</a:t>
            </a:r>
            <a:endParaRPr/>
          </a:p>
        </p:txBody>
      </p:sp>
      <p:sp>
        <p:nvSpPr>
          <p:cNvPr id="72" name=""/>
          <p:cNvSpPr/>
          <p:nvPr/>
        </p:nvSpPr>
        <p:spPr>
          <a:xfrm rot="0" flipH="0" flipV="0">
            <a:off x="685800" y="3867150"/>
            <a:ext cx="3476625" cy="2419350"/>
          </a:xfrm>
          <a:prstGeom prst="roundRect">
            <a:avLst>
              <a:gd name="adj" fmla="val 3937"/>
            </a:avLst>
          </a:prstGeom>
          <a:solidFill>
            <a:srgbClr val="F4F6F9"/>
          </a:solidFill>
          <a:ln/>
        </p:spPr>
        <p:txBody>
          <a:bodyPr/>
          <a:p/>
        </p:txBody>
      </p:sp>
      <p:pic>
        <p:nvPicPr>
          <p:cNvPr id="7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895350" y="4057650"/>
            <a:ext cx="323850" cy="323850"/>
          </a:xfrm>
          <a:prstGeom prst="rect">
            <a:avLst/>
          </a:prstGeom>
          <a:ln/>
        </p:spPr>
      </p:pic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895350" y="4495800"/>
            <a:ext cx="3057525" cy="3238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500" b="1">
                <a:solidFill>
                  <a:srgbClr val="0C447C"/>
                </a:solidFill>
                <a:latin typeface="Microsoft YaHei"/>
                <a:ea typeface="Microsoft YaHei"/>
              </a:rPr>
              <a:t>质押融资专项估值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895350" y="4895850"/>
            <a:ext cx="305752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A6672"/>
                </a:solidFill>
                <a:latin typeface="Microsoft YaHei"/>
                <a:ea typeface="Microsoft YaHei"/>
              </a:rPr>
              <a:t>交付：银行口径评估报告，并协助准备备案与登记材料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895350" y="5524500"/>
            <a:ext cx="3057525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A6672"/>
                </a:solidFill>
                <a:latin typeface="Microsoft YaHei"/>
                <a:ea typeface="Microsoft YaHei"/>
              </a:rPr>
              <a:t>适用：拟以品种权向银行申请授信</a:t>
            </a:r>
            <a:endParaRPr/>
          </a:p>
        </p:txBody>
      </p:sp>
      <p:pic>
        <p:nvPicPr>
          <p:cNvPr id="7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895350" y="5953125"/>
            <a:ext cx="133350" cy="133350"/>
          </a:xfrm>
          <a:prstGeom prst="rect">
            <a:avLst/>
          </a:prstGeom>
          <a:ln/>
        </p:spPr>
      </p:pic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1085850" y="5934075"/>
            <a:ext cx="1038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BA7517"/>
                </a:solidFill>
                <a:latin typeface="Microsoft YaHei"/>
                <a:ea typeface="Microsoft YaHei"/>
              </a:rPr>
              <a:t>15—25 </a:t>
            </a:r>
            <a:r>
              <a:rPr lang="zh-CN" sz="1050">
                <a:solidFill>
                  <a:srgbClr val="BA7517"/>
                </a:solidFill>
                <a:latin typeface="Microsoft YaHei"/>
                <a:ea typeface="Microsoft YaHei"/>
              </a:rPr>
              <a:t>个工作日</a:t>
            </a:r>
            <a:endParaRPr/>
          </a:p>
        </p:txBody>
      </p:sp>
      <p:sp>
        <p:nvSpPr>
          <p:cNvPr id="79" name=""/>
          <p:cNvSpPr/>
          <p:nvPr/>
        </p:nvSpPr>
        <p:spPr>
          <a:xfrm rot="0" flipH="0" flipV="0">
            <a:off x="4352925" y="3867150"/>
            <a:ext cx="3486150" cy="2419350"/>
          </a:xfrm>
          <a:prstGeom prst="roundRect">
            <a:avLst>
              <a:gd name="adj" fmla="val 3937"/>
            </a:avLst>
          </a:prstGeom>
          <a:solidFill>
            <a:srgbClr val="F4F6F9"/>
          </a:solidFill>
          <a:ln/>
        </p:spPr>
        <p:txBody>
          <a:bodyPr/>
          <a:p/>
        </p:txBody>
      </p:sp>
      <p:pic>
        <p:nvPicPr>
          <p:cNvPr id="8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 rot="0" flipH="0" flipV="0">
            <a:off x="4562475" y="4057650"/>
            <a:ext cx="323850" cy="323850"/>
          </a:xfrm>
          <a:prstGeom prst="rect">
            <a:avLst/>
          </a:prstGeom>
          <a:ln/>
        </p:spPr>
      </p:pic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4562475" y="4495800"/>
            <a:ext cx="3067050" cy="3238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500" b="1">
                <a:solidFill>
                  <a:srgbClr val="0C447C"/>
                </a:solidFill>
                <a:latin typeface="Microsoft YaHei"/>
                <a:ea typeface="Microsoft YaHei"/>
              </a:rPr>
              <a:t>作价出资与技术入股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4562475" y="4895850"/>
            <a:ext cx="30670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A6672"/>
                </a:solidFill>
                <a:latin typeface="Microsoft YaHei"/>
                <a:ea typeface="Microsoft YaHei"/>
              </a:rPr>
              <a:t>交付：出资额公允性说明，附递延纳税政策提示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4562475" y="5248275"/>
            <a:ext cx="30670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A6672"/>
                </a:solidFill>
                <a:latin typeface="Microsoft YaHei"/>
                <a:ea typeface="Microsoft YaHei"/>
              </a:rPr>
              <a:t>适用：以品种权或育种技术对外投资、合资</a:t>
            </a:r>
            <a:endParaRPr/>
          </a:p>
        </p:txBody>
      </p:sp>
      <p:pic>
        <p:nvPicPr>
          <p:cNvPr id="8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562475" y="5953125"/>
            <a:ext cx="133350" cy="133350"/>
          </a:xfrm>
          <a:prstGeom prst="rect">
            <a:avLst/>
          </a:prstGeom>
          <a:ln/>
        </p:spPr>
      </p:pic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4752975" y="5934075"/>
            <a:ext cx="1038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BA7517"/>
                </a:solidFill>
                <a:latin typeface="Microsoft YaHei"/>
                <a:ea typeface="Microsoft YaHei"/>
              </a:rPr>
              <a:t>15—25 </a:t>
            </a:r>
            <a:r>
              <a:rPr lang="zh-CN" sz="1050">
                <a:solidFill>
                  <a:srgbClr val="BA7517"/>
                </a:solidFill>
                <a:latin typeface="Microsoft YaHei"/>
                <a:ea typeface="Microsoft YaHei"/>
              </a:rPr>
              <a:t>个工作日</a:t>
            </a:r>
            <a:endParaRPr/>
          </a:p>
        </p:txBody>
      </p:sp>
      <p:sp>
        <p:nvSpPr>
          <p:cNvPr id="86" name=""/>
          <p:cNvSpPr/>
          <p:nvPr/>
        </p:nvSpPr>
        <p:spPr>
          <a:xfrm rot="0" flipH="0" flipV="0">
            <a:off x="8029575" y="3867150"/>
            <a:ext cx="3476625" cy="2419350"/>
          </a:xfrm>
          <a:prstGeom prst="roundRect">
            <a:avLst>
              <a:gd name="adj" fmla="val 3937"/>
            </a:avLst>
          </a:prstGeom>
          <a:solidFill>
            <a:srgbClr val="F4F6F9"/>
          </a:solidFill>
          <a:ln/>
        </p:spPr>
        <p:txBody>
          <a:bodyPr/>
          <a:p/>
        </p:txBody>
      </p:sp>
      <p:pic>
        <p:nvPicPr>
          <p:cNvPr id="8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7"/>
              </a:ext>
            </a:extLst>
          </a:blip>
          <a:stretch>
            <a:fillRect/>
          </a:stretch>
        </p:blipFill>
        <p:spPr>
          <a:xfrm rot="0" flipH="0" flipV="0">
            <a:off x="8239125" y="4057650"/>
            <a:ext cx="323850" cy="323850"/>
          </a:xfrm>
          <a:prstGeom prst="rect">
            <a:avLst/>
          </a:prstGeom>
          <a:ln/>
        </p:spPr>
      </p:pic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8239125" y="4495800"/>
            <a:ext cx="3057525" cy="3238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500" b="1">
                <a:solidFill>
                  <a:srgbClr val="0C447C"/>
                </a:solidFill>
                <a:latin typeface="Microsoft YaHei"/>
                <a:ea typeface="Microsoft YaHei"/>
              </a:rPr>
              <a:t>引种与确权配套咨询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8239125" y="4895850"/>
            <a:ext cx="305752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A6672"/>
                </a:solidFill>
                <a:latin typeface="Microsoft YaHei"/>
                <a:ea typeface="Microsoft YaHei"/>
              </a:rPr>
              <a:t>交付：引种政策适用与确权路径建议，含服务事项对照表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8239125" y="5524500"/>
            <a:ext cx="3057525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A6672"/>
                </a:solidFill>
                <a:latin typeface="Microsoft YaHei"/>
                <a:ea typeface="Microsoft YaHei"/>
              </a:rPr>
              <a:t>适用：境外引种合规、检疫测试与品种权申请</a:t>
            </a:r>
            <a:endParaRPr/>
          </a:p>
        </p:txBody>
      </p:sp>
      <p:pic>
        <p:nvPicPr>
          <p:cNvPr id="9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8239125" y="5953125"/>
            <a:ext cx="133350" cy="133350"/>
          </a:xfrm>
          <a:prstGeom prst="rect">
            <a:avLst/>
          </a:prstGeom>
          <a:ln/>
        </p:spPr>
      </p:pic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8429625" y="5934075"/>
            <a:ext cx="952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BA7517"/>
                </a:solidFill>
                <a:latin typeface="Microsoft YaHei"/>
                <a:ea typeface="Microsoft YaHei"/>
              </a:rPr>
              <a:t>5—10 </a:t>
            </a:r>
            <a:r>
              <a:rPr lang="zh-CN" sz="1050">
                <a:solidFill>
                  <a:srgbClr val="BA7517"/>
                </a:solidFill>
                <a:latin typeface="Microsoft YaHei"/>
                <a:ea typeface="Microsoft YaHei"/>
              </a:rPr>
              <a:t>个工作日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685800" y="6400800"/>
            <a:ext cx="1714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A6672"/>
                </a:solidFill>
                <a:latin typeface="Microsoft YaHei"/>
                <a:ea typeface="Microsoft YaHei"/>
              </a:rPr>
              <a:t>海南国扬</a:t>
            </a:r>
            <a:r>
              <a:rPr lang="en-US" sz="1050">
                <a:solidFill>
                  <a:srgbClr val="5A6672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5A6672"/>
                </a:solidFill>
                <a:latin typeface="Microsoft YaHei"/>
                <a:ea typeface="Microsoft YaHei"/>
              </a:rPr>
              <a:t>无形资产评估专项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11106150" y="6400800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A6672"/>
                </a:solidFill>
                <a:latin typeface="Georgia"/>
                <a:ea typeface="Georgia"/>
              </a:rPr>
              <a:t>12 / 14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95" name="" descr="&lt;Slide style={{ width: 1280, height: 720, padding: '20px 72px', background: '#FFFFFF', flexDirection: 'column' }}&gt;&#10;    &lt;Box style={{ width: '100%', height: 112, flexDirection: 'row', alignItems: 'center', justifyContent: 'space-between' }}&gt;&#10;        &lt;Text style={{ fontFamily: 'Microsoft YaHei', fontSize: 36, fontWeight: 'bold', color: '#1A1A1A' }}&gt;三步启动，先做最轻的那一步&lt;/Text&gt;&#10;        &lt;Text style={{ fontFamily: 'Microsoft YaHei', fontSize: 16, color: '#5A6672' }}&gt;第一步零成本&lt;/Text&gt;&#10;    &lt;/Box&gt;&#10;    &lt;Box style={{ width: '100%', height: 528, flexDirection: 'row', gap: 34 }}&gt;&#10;        &lt;Box style={{ width: 620, height: '100%', position: 'relative', borderRadius: 10, overflow: 'hidden' }}&gt;&#10;            &lt;Image src='assets/lab_scene.png' style={{ position: 'absolute', top: 0, left: 0, width: 620, height: 528, objectFit: 'cover' }} /&gt;&#10;            &lt;Box style={{ position: 'absolute', left: 0, right: 0, bottom: 0, background: 'rgba(12, 68, 124, 0.86)', padding: '16px 22px', flexDirection: 'column' }}&gt;&#10;                &lt;Text style={{ fontFamily: 'Microsoft YaHei', fontSize: 17, fontWeight: 'bold', color: '#FFFFFF', marginBottom: 5 }}&gt;从一份第三方意见开始&lt;/Text&gt;&#10;                &lt;Text style={{ fontFamily: 'Microsoft YaHei', fontSize: 15, color: '#85B7EB' }}&gt;权属未定时，也能先做判断，不必先付费&lt;/Text&gt;&#10;            &lt;/Box&gt;&#10;        &lt;/Box&gt;&#10;        &lt;Box style={{ flex: 1, height: '100%', flexDirection: 'column', gap: 16 }}&gt;&#10;            &lt;Box style={{ width: '100%', height: 165, background: '#F4F6F9', borderRadius: 10, padding: '16px 20px', flexDirection: 'column', border: '2px solid #BA7517' }}&gt;&#10;                &lt;Box style={{ flexDirection: 'row', alignItems: 'center', gap: 10, marginBottom: 8 }}&gt;&#10;                    &lt;Box style={{ width: 58, height: 24, borderRadius: 12, background: '#BA7517', alignItems: 'center', justifyContent: 'center' }}&gt;&#10;                        &lt;Text style={{ fontFamily: 'Microsoft YaHei', fontSize: 14, fontWeight: 'bold', color: '#FFFFFF' }}&gt;起点&lt;/Text&gt;&#10;                    &lt;/Box&gt;&#10;                    &lt;Text style={{ fontFamily: 'Microsoft YaHei', fontSize: 14, color: '#5A6672' }}&gt;零成本 · 半天&lt;/Text&gt;&#10;                &lt;/Box&gt;&#10;                &lt;Text style={{ fontFamily: 'Microsoft YaHei', fontSize: 19, fontWeight: 'bold', color: '#0C447C', lineHeight: 1.4, marginBottom: 6 }}&gt;免费政策与资产初判&lt;/Text&gt;&#10;                &lt;Text style={{ fontFamily: 'Microsoft YaHei', fontSize: 14, color: '#5A6672', lineHeight: 1.6 }}&gt;把品种、权属、面积与营收档位告诉我们，先给一份值不值得评、走哪条路的判断。&lt;/Text&gt;&#10;            &lt;/Box&gt;&#10;            &lt;Box style={{ width: '100%', height: 165, background: '#F4F6F9', borderRadius: 10, padding: '16px 20px', flexDirection: 'column' }}&gt;&#10;                &lt;Box style={{ flexDirection: 'row', alignItems: 'center', gap: 10, marginBottom: 8 }}&gt;&#10;                    &lt;Box style={{ width: 58, height: 24, borderRadius: 12, background: '#FFFFFF', alignItems: 'center', justifyContent: 'center' }}&gt;&#10;                        &lt;Text style={{ fontFamily: 'Microsoft YaHei', fontSize: 14, fontWeight: 'bold', color: '#0C447C' }}&gt;第二步&lt;/Text&gt;&#10;                    &lt;/Box&gt;&#10;                    &lt;Text style={{ fontFamily: 'Microsoft YaHei', fontSize: 14, color: '#5A6672' }}&gt;3—5 个工作日&lt;/Text&gt;&#10;                &lt;/Box&gt;&#10;                &lt;Text style={{ fontFamily: 'Microsoft YaHei', fontSize: 19, fontWeight: 'bold', color: '#0C447C', lineHeight: 1.4, marginBottom: 6 }}&gt;评估对象辨析与可行性意见&lt;/Text&gt;&#10;                &lt;Text style={{ fontFamily: 'Microsoft YaHei', fontSize: 14, color: '#5A6672', lineHeight: 1.6 }}&gt;把「评什么」定下来，给出方法建议与所需资料清单，成本很低。&lt;/Text&gt;&#10;            &lt;/Box&gt;&#10;            &lt;Box style={{ width: '100%', height: 165, background: '#0C447C', borderRadius: 10, padding: '16px 20px', flexDirection: 'column' }}&gt;&#10;                &lt;Box style={{ flexDirection: 'row', alignItems: 'center', gap: 10, marginBottom: 8 }}&gt;&#10;                    &lt;Box style={{ width: 58, height: 24, borderRadius: 12, background: '#185FA5', alignItems: 'center', justifyContent: 'center' }}&gt;&#10;                        &lt;Text style={{ fontFamily: 'Microsoft YaHei', fontSize: 14, fontWeight: 'bold', color: '#FFFFFF' }}&gt;第三步&lt;/Text&gt;&#10;                    &lt;/Box&gt;&#10;                    &lt;Text style={{ fontFamily: 'Microsoft YaHei', fontSize: 14, color: '#85B7EB' }}&gt;10—25 个工作日&lt;/Text&gt;&#10;                &lt;/Box&gt;&#10;                &lt;Text style={{ fontFamily: 'Microsoft YaHei', fontSize: 19, fontWeight: 'bold', color: '#FFFFFF', lineHeight: 1.4, marginBottom: 6 }}&gt;正式委托评估&lt;/Text&gt;&#10;                &lt;Text style={{ fontFamily: 'Microsoft YaHei', fontSize: 14, color: '#85B7EB', lineHeight: 1.6 }}&gt;按用途出具可签字盖章的正式报告，可用于质押、作价出资或对外许可。&lt;/Text&gt;&#10;            &lt;/Box&gt;&#10;        &lt;/Box&gt;&#10;    &lt;/Box&gt;&#10;    &lt;Box style={{ width: '100%', height: 40, flexDirection: 'row', alignItems: 'center', justifyContent: 'space-between' }}&gt;&#10;        &lt;Text style={{ fontFamily: 'Microsoft YaHei', fontSize: 14, color: '#5A6672' }}&gt;海南国扬 · 无形资产评估专项&lt;/Text&gt;&#10;        &lt;Text style={{ fontFamily: 'Georgia', fontSize: 14, color: '#5A6672' }}&gt;13 / 1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685800" y="514350"/>
            <a:ext cx="44577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A1A1A"/>
                </a:solidFill>
                <a:latin typeface="Microsoft YaHei"/>
                <a:ea typeface="Microsoft YaHei"/>
              </a:rPr>
              <a:t>三步启动，先做最轻的那一步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10591800" y="628650"/>
            <a:ext cx="91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A6672"/>
                </a:solidFill>
                <a:latin typeface="Microsoft YaHei"/>
                <a:ea typeface="Microsoft YaHei"/>
              </a:rPr>
              <a:t>第一步零成本</a:t>
            </a:r>
            <a:endParaRPr/>
          </a:p>
        </p:txBody>
      </p:sp>
      <p:sp>
        <p:nvSpPr>
          <p:cNvPr id="99" name=""/>
          <p:cNvSpPr/>
          <p:nvPr/>
        </p:nvSpPr>
        <p:spPr>
          <a:xfrm rot="0" flipH="0" flipV="0">
            <a:off x="6915150" y="1257300"/>
            <a:ext cx="4591050" cy="1571625"/>
          </a:xfrm>
          <a:prstGeom prst="roundRect">
            <a:avLst>
              <a:gd name="adj" fmla="val 6061"/>
            </a:avLst>
          </a:prstGeom>
          <a:solidFill>
            <a:srgbClr val="F4F6F9"/>
          </a:solidFill>
          <a:ln w="25400">
            <a:solidFill>
              <a:srgbClr val="BA7517"/>
            </a:solidFill>
            <a:prstDash val="solid"/>
          </a:ln>
        </p:spPr>
        <p:txBody>
          <a:bodyPr/>
          <a:p/>
        </p:txBody>
      </p:sp>
      <p:sp>
        <p:nvSpPr>
          <p:cNvPr id="100" name=""/>
          <p:cNvSpPr/>
          <p:nvPr/>
        </p:nvSpPr>
        <p:spPr>
          <a:xfrm rot="0" flipH="0" flipV="0">
            <a:off x="7105650" y="1409700"/>
            <a:ext cx="552450" cy="228600"/>
          </a:xfrm>
          <a:prstGeom prst="roundRect">
            <a:avLst>
              <a:gd name="adj" fmla="val 50000"/>
            </a:avLst>
          </a:prstGeom>
          <a:solidFill>
            <a:srgbClr val="BA7517"/>
          </a:solidFill>
          <a:ln/>
        </p:spPr>
        <p:txBody>
          <a:bodyPr/>
          <a:p/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7248525" y="1447800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起点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7753350" y="1447800"/>
            <a:ext cx="781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A6672"/>
                </a:solidFill>
                <a:latin typeface="Microsoft YaHei"/>
                <a:ea typeface="Microsoft YaHei"/>
              </a:rPr>
              <a:t>零成本</a:t>
            </a:r>
            <a:r>
              <a:rPr lang="en-US" sz="1050">
                <a:solidFill>
                  <a:srgbClr val="5A6672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5A6672"/>
                </a:solidFill>
                <a:latin typeface="Microsoft YaHei"/>
                <a:ea typeface="Microsoft YaHei"/>
              </a:rPr>
              <a:t>半天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7105650" y="1714500"/>
            <a:ext cx="4210050" cy="3048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0C447C"/>
                </a:solidFill>
                <a:latin typeface="Microsoft YaHei"/>
                <a:ea typeface="Microsoft YaHei"/>
              </a:rPr>
              <a:t>免费政策与资产初判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7105650" y="2076450"/>
            <a:ext cx="42100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5A6672"/>
                </a:solidFill>
                <a:latin typeface="Microsoft YaHei"/>
                <a:ea typeface="Microsoft YaHei"/>
              </a:rPr>
              <a:t>把品种、权属、面积与营收档位告诉我们，先给一份值不值得评、走哪条路的判断。</a:t>
            </a:r>
            <a:endParaRPr/>
          </a:p>
        </p:txBody>
      </p:sp>
      <p:sp>
        <p:nvSpPr>
          <p:cNvPr id="105" name=""/>
          <p:cNvSpPr/>
          <p:nvPr/>
        </p:nvSpPr>
        <p:spPr>
          <a:xfrm rot="0" flipH="0" flipV="0">
            <a:off x="6915150" y="2981325"/>
            <a:ext cx="4591050" cy="1571625"/>
          </a:xfrm>
          <a:prstGeom prst="roundRect">
            <a:avLst>
              <a:gd name="adj" fmla="val 6061"/>
            </a:avLst>
          </a:prstGeom>
          <a:solidFill>
            <a:srgbClr val="F4F6F9"/>
          </a:solidFill>
          <a:ln/>
        </p:spPr>
        <p:txBody>
          <a:bodyPr/>
          <a:p/>
        </p:txBody>
      </p:sp>
      <p:sp>
        <p:nvSpPr>
          <p:cNvPr id="106" name=""/>
          <p:cNvSpPr/>
          <p:nvPr/>
        </p:nvSpPr>
        <p:spPr>
          <a:xfrm rot="0" flipH="0" flipV="0">
            <a:off x="7105650" y="3133725"/>
            <a:ext cx="55245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7181850" y="3171825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C447C"/>
                </a:solidFill>
                <a:latin typeface="Microsoft YaHei"/>
                <a:ea typeface="Microsoft YaHei"/>
              </a:rPr>
              <a:t>第二步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7753350" y="3171825"/>
            <a:ext cx="876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A6672"/>
                </a:solidFill>
                <a:latin typeface="Microsoft YaHei"/>
                <a:ea typeface="Microsoft YaHei"/>
              </a:rPr>
              <a:t>3—5 </a:t>
            </a:r>
            <a:r>
              <a:rPr lang="zh-CN" sz="1050">
                <a:solidFill>
                  <a:srgbClr val="5A6672"/>
                </a:solidFill>
                <a:latin typeface="Microsoft YaHei"/>
                <a:ea typeface="Microsoft YaHei"/>
              </a:rPr>
              <a:t>个工作日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7105650" y="3438525"/>
            <a:ext cx="4210050" cy="3048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0C447C"/>
                </a:solidFill>
                <a:latin typeface="Microsoft YaHei"/>
                <a:ea typeface="Microsoft YaHei"/>
              </a:rPr>
              <a:t>评估对象辨析与可行性意见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7105650" y="3800475"/>
            <a:ext cx="421005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A6672"/>
                </a:solidFill>
                <a:latin typeface="Microsoft YaHei"/>
                <a:ea typeface="Microsoft YaHei"/>
              </a:rPr>
              <a:t>把「评什么」定下来，给出方法建议与所需资料清单，成本很低。</a:t>
            </a:r>
            <a:endParaRPr/>
          </a:p>
        </p:txBody>
      </p:sp>
      <p:sp>
        <p:nvSpPr>
          <p:cNvPr id="111" name=""/>
          <p:cNvSpPr/>
          <p:nvPr/>
        </p:nvSpPr>
        <p:spPr>
          <a:xfrm rot="0" flipH="0" flipV="0">
            <a:off x="6915150" y="4705350"/>
            <a:ext cx="4591050" cy="1571625"/>
          </a:xfrm>
          <a:prstGeom prst="roundRect">
            <a:avLst>
              <a:gd name="adj" fmla="val 6061"/>
            </a:avLst>
          </a:prstGeom>
          <a:solidFill>
            <a:srgbClr val="0C447C"/>
          </a:solidFill>
          <a:ln/>
        </p:spPr>
        <p:txBody>
          <a:bodyPr/>
          <a:p/>
        </p:txBody>
      </p:sp>
      <p:sp>
        <p:nvSpPr>
          <p:cNvPr id="112" name=""/>
          <p:cNvSpPr/>
          <p:nvPr/>
        </p:nvSpPr>
        <p:spPr>
          <a:xfrm rot="0" flipH="0" flipV="0">
            <a:off x="7105650" y="4857750"/>
            <a:ext cx="552450" cy="228600"/>
          </a:xfrm>
          <a:prstGeom prst="roundRect">
            <a:avLst>
              <a:gd name="adj" fmla="val 50000"/>
            </a:avLst>
          </a:prstGeom>
          <a:solidFill>
            <a:srgbClr val="185FA5"/>
          </a:solidFill>
          <a:ln/>
        </p:spPr>
        <p:txBody>
          <a:bodyPr/>
          <a:p/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7181850" y="4895850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第三步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7753350" y="4895850"/>
            <a:ext cx="1038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5B7EB"/>
                </a:solidFill>
                <a:latin typeface="Microsoft YaHei"/>
                <a:ea typeface="Microsoft YaHei"/>
              </a:rPr>
              <a:t>10—25 </a:t>
            </a:r>
            <a:r>
              <a:rPr lang="zh-CN" sz="1050">
                <a:solidFill>
                  <a:srgbClr val="85B7EB"/>
                </a:solidFill>
                <a:latin typeface="Microsoft YaHei"/>
                <a:ea typeface="Microsoft YaHei"/>
              </a:rPr>
              <a:t>个工作日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7105650" y="5162550"/>
            <a:ext cx="4210050" cy="3048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正式委托评估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7105650" y="5524500"/>
            <a:ext cx="42100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85B7EB"/>
                </a:solidFill>
                <a:latin typeface="Microsoft YaHei"/>
                <a:ea typeface="Microsoft YaHei"/>
              </a:rPr>
              <a:t>按用途出具可签字盖章的正式报告，可用于质押、作价出资或对外许可。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685800" y="6400800"/>
            <a:ext cx="1714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A6672"/>
                </a:solidFill>
                <a:latin typeface="Microsoft YaHei"/>
                <a:ea typeface="Microsoft YaHei"/>
              </a:rPr>
              <a:t>海南国扬</a:t>
            </a:r>
            <a:r>
              <a:rPr lang="en-US" sz="1050">
                <a:solidFill>
                  <a:srgbClr val="5A6672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5A6672"/>
                </a:solidFill>
                <a:latin typeface="Microsoft YaHei"/>
                <a:ea typeface="Microsoft YaHei"/>
              </a:rPr>
              <a:t>无形资产评估专项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11115675" y="6400800"/>
            <a:ext cx="390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A6672"/>
                </a:solidFill>
                <a:latin typeface="Georgia"/>
                <a:ea typeface="Georgia"/>
              </a:rPr>
              <a:t>13 / 14</a:t>
            </a:r>
            <a:endParaRPr/>
          </a:p>
        </p:txBody>
      </p:sp>
      <p:sp>
        <p:nvSpPr>
          <p:cNvPr id="119" name=""/>
          <p:cNvSpPr/>
          <p:nvPr/>
        </p:nvSpPr>
        <p:spPr>
          <a:xfrm rot="0" flipH="0" flipV="0">
            <a:off x="685800" y="1257300"/>
            <a:ext cx="5905500" cy="5029200"/>
          </a:xfrm>
          <a:prstGeom prst="roundRect">
            <a:avLst>
              <a:gd name="adj" fmla="val 1894"/>
            </a:avLst>
          </a:prstGeom>
          <a:ln/>
        </p:spPr>
        <p:txBody>
          <a:bodyPr/>
          <a:p/>
        </p:txBody>
      </p:sp>
      <p:pic>
        <p:nvPicPr>
          <p:cNvPr id="120" name=""/>
          <p:cNvPicPr>
            <a:picLocks noChangeAspect="1"/>
          </p:cNvPicPr>
          <p:nvPr/>
        </p:nvPicPr>
        <p:blipFill>
          <a:blip r:embed="rId1"/>
          <a:srcRect l="14795" t="0" r="14795" b="0"/>
          <a:stretch>
            <a:fillRect/>
          </a:stretch>
        </p:blipFill>
        <p:spPr>
          <a:xfrm rot="0" flipH="0" flipV="0">
            <a:off x="685800" y="1257300"/>
            <a:ext cx="5905500" cy="5029200"/>
          </a:xfrm>
          <a:custGeom>
            <a:pathLst>
              <a:path w="620" h="528">
                <a:moveTo>
                  <a:pt x="610" y="0"/>
                </a:moveTo>
                <a:cubicBezTo>
                  <a:pt x="616" y="0"/>
                  <a:pt x="620" y="5"/>
                  <a:pt x="620" y="10"/>
                </a:cubicBezTo>
                <a:lnTo>
                  <a:pt x="620" y="518"/>
                </a:lnTo>
                <a:cubicBezTo>
                  <a:pt x="620" y="524"/>
                  <a:pt x="616" y="528"/>
                  <a:pt x="610" y="528"/>
                </a:cubicBezTo>
                <a:lnTo>
                  <a:pt x="10" y="528"/>
                </a:lnTo>
                <a:cubicBezTo>
                  <a:pt x="4" y="528"/>
                  <a:pt x="0" y="524"/>
                  <a:pt x="0" y="518"/>
                </a:cubicBezTo>
                <a:lnTo>
                  <a:pt x="0" y="10"/>
                </a:lnTo>
                <a:cubicBezTo>
                  <a:pt x="0" y="4"/>
                  <a:pt x="4" y="0"/>
                  <a:pt x="10" y="0"/>
                </a:cubicBezTo>
                <a:lnTo>
                  <a:pt x="610" y="0"/>
                </a:lnTo>
                <a:close/>
              </a:path>
            </a:pathLst>
          </a:custGeom>
          <a:ln/>
        </p:spPr>
      </p:pic>
      <p:sp>
        <p:nvSpPr>
          <p:cNvPr id="121" name=""/>
          <p:cNvSpPr/>
          <p:nvPr/>
        </p:nvSpPr>
        <p:spPr>
          <a:xfrm rot="0" flipH="0" flipV="0">
            <a:off x="685800" y="5562600"/>
            <a:ext cx="5905500" cy="723900"/>
          </a:xfrm>
          <a:custGeom>
            <a:pathLst>
              <a:path w="620" h="76">
                <a:moveTo>
                  <a:pt x="620" y="66"/>
                </a:moveTo>
                <a:cubicBezTo>
                  <a:pt x="620" y="72"/>
                  <a:pt x="616" y="76"/>
                  <a:pt x="610" y="76"/>
                </a:cubicBezTo>
                <a:lnTo>
                  <a:pt x="10" y="76"/>
                </a:lnTo>
                <a:cubicBezTo>
                  <a:pt x="4" y="76"/>
                  <a:pt x="0" y="72"/>
                  <a:pt x="0" y="66"/>
                </a:cubicBezTo>
                <a:lnTo>
                  <a:pt x="0" y="0"/>
                </a:lnTo>
                <a:lnTo>
                  <a:pt x="620" y="0"/>
                </a:lnTo>
                <a:close/>
              </a:path>
            </a:pathLst>
          </a:custGeom>
          <a:solidFill>
            <a:srgbClr val="0C447C">
              <a:alpha val="86000"/>
            </a:srgbClr>
          </a:solidFill>
          <a:ln/>
        </p:spPr>
        <p:txBody>
          <a:bodyPr/>
          <a:p/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895350" y="5715000"/>
            <a:ext cx="5486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从一份第三方意见开始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895350" y="5962650"/>
            <a:ext cx="5486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5B7EB"/>
                </a:solidFill>
                <a:latin typeface="Microsoft YaHei"/>
                <a:ea typeface="Microsoft YaHei"/>
              </a:rPr>
              <a:t>权属未定时，也能先做判断，不必先付费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24" name="" descr="&lt;Slide style={{ width: 1280, height: 720, padding: 0, position: 'relative', background: '#0C447C', overflow: 'hidden' }}&gt;&#10;    &lt;Box style={{ position: 'absolute', top: 0, left: 0, width: 14, height: 720, background: '#BA7517' }} /&gt;&#10;    &lt;Box style={{ position: 'absolute', right: -80, bottom: -120, width: 460, height: 460, borderRadius: 230, background: 'rgba(24, 95, 165, 0.5)' }} /&gt;&#10;    &lt;Box style={{ position: 'relative', zIndex: 2, width: 1280, height: 720, padding: '0 96px', flexDirection: 'column', justifyContent: 'center' }}&gt;&#10;        &lt;Text style={{ fontFamily: 'Microsoft YaHei', fontSize: 16, color: '#85B7EB', letterSpacing: 3, marginBottom: 20 }}&gt;海南国扬土地房地产资产评估有限公司&lt;/Text&gt;&#10;        &lt;Text style={{ fontFamily: 'Microsoft YaHei', fontSize: 52, fontWeight: 'bold', color: '#FFFFFF', lineHeight: 1.28, marginBottom: 26 }}&gt;想起评估，&lt;br /&gt;就打这个电话&lt;/Text&gt;&#10;        &lt;Box style={{ width: 76, height: 5, background: '#BA7517', marginBottom: 26 }} /&gt;&#10;        &lt;Box style={{ flexDirection: 'row', alignItems: 'flex-end', gap: 18, marginBottom: 24 }}&gt;&#10;            &lt;FAIcon name='phone' style={{ fill: '#BA7517', width: 34, height: 34, marginBottom: 10 }} /&gt;&#10;            &lt;Text style={{ fontFamily: 'Georgia', fontSize: 56, fontWeight: 'bold', color: '#FFFFFF', lineHeight: 1.0 }}&gt;0898-68559359&lt;/Text&gt;&#10;        &lt;/Box&gt;&#10;        &lt;Text style={{ fontFamily: 'Microsoft YaHei', fontSize: 17, color: '#85B7EB', lineHeight: 1.8 }}&gt;地址：海南省海口市美兰区国兴大道 11 号国瑞大厦 C 座东塔 801 房&lt;br /&gt;报告真伪查询电话：0898-68559359　|　评估咨询与委托：同号&lt;/Text&gt;&#10;    &lt;/Box&gt;&#10;    &lt;Box style={{ position: 'absolute', left: 96, bottom: 34, zIndex: 2, flexDirection: 'row', alignItems: 'center', gap: 14 }}&gt;&#10;        &lt;Text style={{ fontFamily: 'Microsoft YaHei', fontSize: 14, color: '#85B7EB' }}&gt;种质资源与植物新品种权评估服务&lt;/Text&gt;&#10;        &lt;Box style={{ width: 1, height: 14, background: '#185FA5' }} /&gt;&#10;        &lt;Text style={{ fontFamily: 'Georgia', fontSize: 14, color: '#85B7EB' }}&gt;14 / 1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C447C"/>
          </a:solidFill>
          <a:ln/>
        </p:spPr>
        <p:txBody>
          <a:bodyPr/>
          <a:p/>
        </p:txBody>
      </p:sp>
      <p:sp>
        <p:nvSpPr>
          <p:cNvPr id="126" name=""/>
          <p:cNvSpPr/>
          <p:nvPr/>
        </p:nvSpPr>
        <p:spPr>
          <a:xfrm rot="0" flipH="0" flipV="0">
            <a:off x="0" y="0"/>
            <a:ext cx="133350" cy="6858000"/>
          </a:xfrm>
          <a:prstGeom prst="rect">
            <a:avLst/>
          </a:prstGeom>
          <a:solidFill>
            <a:srgbClr val="BA7517"/>
          </a:solidFill>
          <a:ln/>
        </p:spPr>
        <p:txBody>
          <a:bodyPr/>
          <a:p/>
        </p:txBody>
      </p:sp>
      <p:sp>
        <p:nvSpPr>
          <p:cNvPr id="127" name=""/>
          <p:cNvSpPr/>
          <p:nvPr/>
        </p:nvSpPr>
        <p:spPr>
          <a:xfrm rot="0" flipH="0" flipV="0">
            <a:off x="8572500" y="3619500"/>
            <a:ext cx="4381500" cy="4381500"/>
          </a:xfrm>
          <a:custGeom>
            <a:pathLst>
              <a:path w="460" h="460">
                <a:moveTo>
                  <a:pt x="236" y="0"/>
                </a:moveTo>
                <a:lnTo>
                  <a:pt x="242" y="0"/>
                </a:lnTo>
                <a:lnTo>
                  <a:pt x="248" y="1"/>
                </a:lnTo>
                <a:lnTo>
                  <a:pt x="254" y="1"/>
                </a:lnTo>
                <a:lnTo>
                  <a:pt x="259" y="2"/>
                </a:lnTo>
                <a:lnTo>
                  <a:pt x="265" y="3"/>
                </a:lnTo>
                <a:lnTo>
                  <a:pt x="271" y="4"/>
                </a:lnTo>
                <a:lnTo>
                  <a:pt x="276" y="5"/>
                </a:lnTo>
                <a:lnTo>
                  <a:pt x="282" y="6"/>
                </a:lnTo>
                <a:lnTo>
                  <a:pt x="287" y="7"/>
                </a:lnTo>
                <a:lnTo>
                  <a:pt x="293" y="9"/>
                </a:lnTo>
                <a:lnTo>
                  <a:pt x="298" y="10"/>
                </a:lnTo>
                <a:lnTo>
                  <a:pt x="304" y="12"/>
                </a:lnTo>
                <a:lnTo>
                  <a:pt x="309" y="14"/>
                </a:lnTo>
                <a:lnTo>
                  <a:pt x="314" y="16"/>
                </a:lnTo>
                <a:lnTo>
                  <a:pt x="319" y="18"/>
                </a:lnTo>
                <a:lnTo>
                  <a:pt x="325" y="20"/>
                </a:lnTo>
                <a:lnTo>
                  <a:pt x="330" y="23"/>
                </a:lnTo>
                <a:lnTo>
                  <a:pt x="335" y="25"/>
                </a:lnTo>
                <a:lnTo>
                  <a:pt x="340" y="28"/>
                </a:lnTo>
                <a:lnTo>
                  <a:pt x="344" y="30"/>
                </a:lnTo>
                <a:lnTo>
                  <a:pt x="349" y="33"/>
                </a:lnTo>
                <a:lnTo>
                  <a:pt x="354" y="36"/>
                </a:lnTo>
                <a:lnTo>
                  <a:pt x="359" y="39"/>
                </a:lnTo>
                <a:lnTo>
                  <a:pt x="363" y="42"/>
                </a:lnTo>
                <a:lnTo>
                  <a:pt x="368" y="46"/>
                </a:lnTo>
                <a:lnTo>
                  <a:pt x="372" y="49"/>
                </a:lnTo>
                <a:lnTo>
                  <a:pt x="376" y="53"/>
                </a:lnTo>
                <a:lnTo>
                  <a:pt x="380" y="56"/>
                </a:lnTo>
                <a:lnTo>
                  <a:pt x="380" y="340"/>
                </a:lnTo>
                <a:lnTo>
                  <a:pt x="28" y="340"/>
                </a:lnTo>
                <a:lnTo>
                  <a:pt x="28" y="340"/>
                </a:lnTo>
                <a:lnTo>
                  <a:pt x="25" y="335"/>
                </a:lnTo>
                <a:lnTo>
                  <a:pt x="23" y="330"/>
                </a:lnTo>
                <a:lnTo>
                  <a:pt x="20" y="325"/>
                </a:lnTo>
                <a:lnTo>
                  <a:pt x="18" y="319"/>
                </a:lnTo>
                <a:lnTo>
                  <a:pt x="16" y="314"/>
                </a:lnTo>
                <a:lnTo>
                  <a:pt x="14" y="309"/>
                </a:lnTo>
                <a:lnTo>
                  <a:pt x="12" y="304"/>
                </a:lnTo>
                <a:lnTo>
                  <a:pt x="10" y="298"/>
                </a:lnTo>
                <a:lnTo>
                  <a:pt x="9" y="293"/>
                </a:lnTo>
                <a:lnTo>
                  <a:pt x="7" y="287"/>
                </a:lnTo>
                <a:lnTo>
                  <a:pt x="6" y="282"/>
                </a:lnTo>
                <a:lnTo>
                  <a:pt x="5" y="276"/>
                </a:lnTo>
                <a:lnTo>
                  <a:pt x="4" y="271"/>
                </a:lnTo>
                <a:lnTo>
                  <a:pt x="3" y="265"/>
                </a:lnTo>
                <a:lnTo>
                  <a:pt x="2" y="259"/>
                </a:lnTo>
                <a:lnTo>
                  <a:pt x="1" y="254"/>
                </a:lnTo>
                <a:lnTo>
                  <a:pt x="1" y="248"/>
                </a:lnTo>
                <a:lnTo>
                  <a:pt x="0" y="242"/>
                </a:lnTo>
                <a:lnTo>
                  <a:pt x="0" y="236"/>
                </a:lnTo>
                <a:lnTo>
                  <a:pt x="0" y="230"/>
                </a:lnTo>
                <a:lnTo>
                  <a:pt x="0" y="224"/>
                </a:lnTo>
                <a:lnTo>
                  <a:pt x="0" y="218"/>
                </a:lnTo>
                <a:lnTo>
                  <a:pt x="1" y="212"/>
                </a:lnTo>
                <a:lnTo>
                  <a:pt x="1" y="206"/>
                </a:lnTo>
                <a:lnTo>
                  <a:pt x="2" y="201"/>
                </a:lnTo>
                <a:lnTo>
                  <a:pt x="3" y="195"/>
                </a:lnTo>
                <a:lnTo>
                  <a:pt x="4" y="189"/>
                </a:lnTo>
                <a:lnTo>
                  <a:pt x="5" y="184"/>
                </a:lnTo>
                <a:lnTo>
                  <a:pt x="6" y="178"/>
                </a:lnTo>
                <a:lnTo>
                  <a:pt x="7" y="173"/>
                </a:lnTo>
                <a:lnTo>
                  <a:pt x="9" y="167"/>
                </a:lnTo>
                <a:lnTo>
                  <a:pt x="10" y="162"/>
                </a:lnTo>
                <a:lnTo>
                  <a:pt x="12" y="156"/>
                </a:lnTo>
                <a:lnTo>
                  <a:pt x="14" y="151"/>
                </a:lnTo>
                <a:lnTo>
                  <a:pt x="16" y="146"/>
                </a:lnTo>
                <a:lnTo>
                  <a:pt x="18" y="141"/>
                </a:lnTo>
                <a:lnTo>
                  <a:pt x="20" y="135"/>
                </a:lnTo>
                <a:lnTo>
                  <a:pt x="23" y="130"/>
                </a:lnTo>
                <a:lnTo>
                  <a:pt x="25" y="125"/>
                </a:lnTo>
                <a:lnTo>
                  <a:pt x="28" y="120"/>
                </a:lnTo>
                <a:lnTo>
                  <a:pt x="30" y="116"/>
                </a:lnTo>
                <a:lnTo>
                  <a:pt x="33" y="111"/>
                </a:lnTo>
                <a:lnTo>
                  <a:pt x="36" y="106"/>
                </a:lnTo>
                <a:lnTo>
                  <a:pt x="39" y="101"/>
                </a:lnTo>
                <a:lnTo>
                  <a:pt x="42" y="97"/>
                </a:lnTo>
                <a:lnTo>
                  <a:pt x="46" y="92"/>
                </a:lnTo>
                <a:lnTo>
                  <a:pt x="49" y="88"/>
                </a:lnTo>
                <a:lnTo>
                  <a:pt x="53" y="84"/>
                </a:lnTo>
                <a:lnTo>
                  <a:pt x="56" y="80"/>
                </a:lnTo>
                <a:lnTo>
                  <a:pt x="60" y="75"/>
                </a:lnTo>
                <a:lnTo>
                  <a:pt x="64" y="71"/>
                </a:lnTo>
                <a:lnTo>
                  <a:pt x="67" y="67"/>
                </a:lnTo>
                <a:lnTo>
                  <a:pt x="71" y="64"/>
                </a:lnTo>
                <a:lnTo>
                  <a:pt x="75" y="60"/>
                </a:lnTo>
                <a:lnTo>
                  <a:pt x="80" y="56"/>
                </a:lnTo>
                <a:lnTo>
                  <a:pt x="84" y="53"/>
                </a:lnTo>
                <a:lnTo>
                  <a:pt x="88" y="49"/>
                </a:lnTo>
                <a:lnTo>
                  <a:pt x="92" y="46"/>
                </a:lnTo>
                <a:lnTo>
                  <a:pt x="97" y="42"/>
                </a:lnTo>
                <a:lnTo>
                  <a:pt x="101" y="39"/>
                </a:lnTo>
                <a:lnTo>
                  <a:pt x="106" y="36"/>
                </a:lnTo>
                <a:lnTo>
                  <a:pt x="111" y="33"/>
                </a:lnTo>
                <a:lnTo>
                  <a:pt x="116" y="30"/>
                </a:lnTo>
                <a:lnTo>
                  <a:pt x="120" y="28"/>
                </a:lnTo>
                <a:lnTo>
                  <a:pt x="125" y="25"/>
                </a:lnTo>
                <a:lnTo>
                  <a:pt x="130" y="23"/>
                </a:lnTo>
                <a:lnTo>
                  <a:pt x="135" y="20"/>
                </a:lnTo>
                <a:lnTo>
                  <a:pt x="141" y="18"/>
                </a:lnTo>
                <a:lnTo>
                  <a:pt x="146" y="16"/>
                </a:lnTo>
                <a:lnTo>
                  <a:pt x="151" y="14"/>
                </a:lnTo>
                <a:lnTo>
                  <a:pt x="156" y="12"/>
                </a:lnTo>
                <a:lnTo>
                  <a:pt x="162" y="10"/>
                </a:lnTo>
                <a:lnTo>
                  <a:pt x="167" y="9"/>
                </a:lnTo>
                <a:lnTo>
                  <a:pt x="173" y="7"/>
                </a:lnTo>
                <a:lnTo>
                  <a:pt x="178" y="6"/>
                </a:lnTo>
                <a:lnTo>
                  <a:pt x="184" y="5"/>
                </a:lnTo>
                <a:lnTo>
                  <a:pt x="189" y="4"/>
                </a:lnTo>
                <a:lnTo>
                  <a:pt x="195" y="3"/>
                </a:lnTo>
                <a:lnTo>
                  <a:pt x="201" y="2"/>
                </a:lnTo>
                <a:lnTo>
                  <a:pt x="206" y="1"/>
                </a:lnTo>
                <a:lnTo>
                  <a:pt x="212" y="1"/>
                </a:lnTo>
                <a:lnTo>
                  <a:pt x="218" y="0"/>
                </a:lnTo>
                <a:lnTo>
                  <a:pt x="224" y="0"/>
                </a:lnTo>
                <a:lnTo>
                  <a:pt x="230" y="0"/>
                </a:lnTo>
                <a:close/>
              </a:path>
            </a:pathLst>
          </a:custGeom>
          <a:solidFill>
            <a:srgbClr val="185FA5">
              <a:alpha val="50000"/>
            </a:srgbClr>
          </a:solidFill>
          <a:ln/>
        </p:spPr>
        <p:txBody>
          <a:bodyPr/>
          <a:p/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914400" y="1419225"/>
            <a:ext cx="10363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225">
                <a:solidFill>
                  <a:srgbClr val="85B7EB"/>
                </a:solidFill>
                <a:latin typeface="Microsoft YaHei"/>
                <a:ea typeface="Microsoft YaHei"/>
              </a:rPr>
              <a:t>海南国扬土地房地产资产评估有限公司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914400" y="1800225"/>
            <a:ext cx="10363200" cy="1524000"/>
          </a:xfrm>
          <a:prstGeom prst="rect"/>
        </p:spPr>
        <p:txBody>
          <a:bodyPr wrap="none" lIns="0" tIns="0" rIns="0" bIns="0"/>
          <a:p>
            <a:pPr>
              <a:lnSpc>
                <a:spcPct val="128000"/>
              </a:lnSpc>
            </a:pPr>
            <a:r>
              <a:rPr lang="zh-CN" sz="3900" b="1">
                <a:solidFill>
                  <a:srgbClr val="FFFFFF"/>
                </a:solidFill>
                <a:latin typeface="Microsoft YaHei"/>
                <a:ea typeface="Microsoft YaHei"/>
              </a:rPr>
              <a:t>想起评估，</a:t>
            </a:r>
            <a:endParaRPr/>
          </a:p>
          <a:p>
            <a:pPr>
              <a:lnSpc>
                <a:spcPct val="128000"/>
              </a:lnSpc>
            </a:pPr>
            <a:r>
              <a:rPr lang="zh-CN" sz="3900" b="1">
                <a:solidFill>
                  <a:srgbClr val="FFFFFF"/>
                </a:solidFill>
                <a:latin typeface="Microsoft YaHei"/>
                <a:ea typeface="Microsoft YaHei"/>
              </a:rPr>
              <a:t>就打这个电话</a:t>
            </a:r>
            <a:endParaRPr/>
          </a:p>
        </p:txBody>
      </p:sp>
      <p:sp>
        <p:nvSpPr>
          <p:cNvPr id="130" name=""/>
          <p:cNvSpPr/>
          <p:nvPr/>
        </p:nvSpPr>
        <p:spPr>
          <a:xfrm rot="0" flipH="0" flipV="0">
            <a:off x="914400" y="3571875"/>
            <a:ext cx="723900" cy="47625"/>
          </a:xfrm>
          <a:prstGeom prst="rect">
            <a:avLst/>
          </a:prstGeom>
          <a:solidFill>
            <a:srgbClr val="BA7517"/>
          </a:solidFill>
          <a:ln/>
        </p:spPr>
        <p:txBody>
          <a:bodyPr/>
          <a:p/>
        </p:txBody>
      </p:sp>
      <p:pic>
        <p:nvPicPr>
          <p:cNvPr id="13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14400" y="4095750"/>
            <a:ext cx="323850" cy="323850"/>
          </a:xfrm>
          <a:prstGeom prst="rect">
            <a:avLst/>
          </a:prstGeom>
          <a:ln/>
        </p:spPr>
      </p:pic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1409700" y="3867150"/>
            <a:ext cx="4333875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FFFFFF"/>
                </a:solidFill>
                <a:latin typeface="Georgia"/>
                <a:ea typeface="Georgia"/>
              </a:rPr>
              <a:t>0898-68559359</a:t>
            </a:r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914400" y="4743450"/>
            <a:ext cx="10363200" cy="704850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275">
                <a:solidFill>
                  <a:srgbClr val="85B7EB"/>
                </a:solidFill>
                <a:latin typeface="Microsoft YaHei"/>
                <a:ea typeface="Microsoft YaHei"/>
              </a:rPr>
              <a:t>地址：海南省海口市美兰区国兴大道</a:t>
            </a:r>
            <a:r>
              <a:rPr lang="en-US" sz="1275">
                <a:solidFill>
                  <a:srgbClr val="85B7EB"/>
                </a:solidFill>
                <a:latin typeface="Microsoft YaHei"/>
                <a:ea typeface="Microsoft YaHei"/>
              </a:rPr>
              <a:t> 11 </a:t>
            </a:r>
            <a:r>
              <a:rPr lang="zh-CN" sz="1275">
                <a:solidFill>
                  <a:srgbClr val="85B7EB"/>
                </a:solidFill>
                <a:latin typeface="Microsoft YaHei"/>
                <a:ea typeface="Microsoft YaHei"/>
              </a:rPr>
              <a:t>号国瑞大厦</a:t>
            </a:r>
            <a:r>
              <a:rPr lang="en-US" sz="1275">
                <a:solidFill>
                  <a:srgbClr val="85B7EB"/>
                </a:solidFill>
                <a:latin typeface="Microsoft YaHei"/>
                <a:ea typeface="Microsoft YaHei"/>
              </a:rPr>
              <a:t> C </a:t>
            </a:r>
            <a:r>
              <a:rPr lang="zh-CN" sz="1275">
                <a:solidFill>
                  <a:srgbClr val="85B7EB"/>
                </a:solidFill>
                <a:latin typeface="Microsoft YaHei"/>
                <a:ea typeface="Microsoft YaHei"/>
              </a:rPr>
              <a:t>座东塔</a:t>
            </a:r>
            <a:r>
              <a:rPr lang="en-US" sz="1275">
                <a:solidFill>
                  <a:srgbClr val="85B7EB"/>
                </a:solidFill>
                <a:latin typeface="Microsoft YaHei"/>
                <a:ea typeface="Microsoft YaHei"/>
              </a:rPr>
              <a:t> 801 </a:t>
            </a:r>
            <a:r>
              <a:rPr lang="zh-CN" sz="1275">
                <a:solidFill>
                  <a:srgbClr val="85B7EB"/>
                </a:solidFill>
                <a:latin typeface="Microsoft YaHei"/>
                <a:ea typeface="Microsoft YaHei"/>
              </a:rPr>
              <a:t>房</a:t>
            </a:r>
            <a:endParaRPr/>
          </a:p>
          <a:p>
            <a:pPr>
              <a:lnSpc>
                <a:spcPct val="180000"/>
              </a:lnSpc>
            </a:pPr>
            <a:r>
              <a:rPr lang="zh-CN" sz="1275">
                <a:solidFill>
                  <a:srgbClr val="85B7EB"/>
                </a:solidFill>
                <a:latin typeface="Microsoft YaHei"/>
                <a:ea typeface="Microsoft YaHei"/>
              </a:rPr>
              <a:t>报告真伪查询电话：</a:t>
            </a:r>
            <a:r>
              <a:rPr lang="en-US" sz="1275">
                <a:solidFill>
                  <a:srgbClr val="85B7EB"/>
                </a:solidFill>
                <a:latin typeface="Microsoft YaHei"/>
                <a:ea typeface="Microsoft YaHei"/>
              </a:rPr>
              <a:t>0898-68559359</a:t>
            </a:r>
            <a:r>
              <a:rPr lang="zh-CN" sz="1275">
                <a:solidFill>
                  <a:srgbClr val="85B7EB"/>
                </a:solidFill>
                <a:latin typeface="Microsoft YaHei"/>
                <a:ea typeface="Microsoft YaHei"/>
              </a:rPr>
              <a:t>　</a:t>
            </a:r>
            <a:r>
              <a:rPr lang="en-US" sz="1275">
                <a:solidFill>
                  <a:srgbClr val="85B7EB"/>
                </a:solidFill>
                <a:latin typeface="Microsoft YaHei"/>
                <a:ea typeface="Microsoft YaHei"/>
              </a:rPr>
              <a:t>|</a:t>
            </a:r>
            <a:r>
              <a:rPr lang="zh-CN" sz="1275">
                <a:solidFill>
                  <a:srgbClr val="85B7EB"/>
                </a:solidFill>
                <a:latin typeface="Microsoft YaHei"/>
                <a:ea typeface="Microsoft YaHei"/>
              </a:rPr>
              <a:t>　评估咨询与委托：同号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914400" y="6372225"/>
            <a:ext cx="2000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5B7EB"/>
                </a:solidFill>
                <a:latin typeface="Microsoft YaHei"/>
                <a:ea typeface="Microsoft YaHei"/>
              </a:rPr>
              <a:t>种质资源与植物新品种权评估服务</a:t>
            </a:r>
            <a:endParaRPr/>
          </a:p>
        </p:txBody>
      </p:sp>
      <p:sp>
        <p:nvSpPr>
          <p:cNvPr id="135" name=""/>
          <p:cNvSpPr/>
          <p:nvPr/>
        </p:nvSpPr>
        <p:spPr>
          <a:xfrm rot="0" flipH="0" flipV="0">
            <a:off x="3048000" y="6391275"/>
            <a:ext cx="9525" cy="133350"/>
          </a:xfrm>
          <a:prstGeom prst="rect">
            <a:avLst/>
          </a:prstGeom>
          <a:solidFill>
            <a:srgbClr val="185FA5"/>
          </a:solidFill>
          <a:ln/>
        </p:spPr>
        <p:txBody>
          <a:bodyPr/>
          <a:p/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3190875" y="6372225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5B7EB"/>
                </a:solidFill>
                <a:latin typeface="Georgia"/>
                <a:ea typeface="Georgia"/>
              </a:rPr>
              <a:t>14 / 14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2026-09-22T00:35:16Z</dcterms:created>
  <dcterms:modified xsi:type="dcterms:W3CDTF">2026-09-22T00:35:16Z</dcterms:modified>
</cp:coreProperties>
</file>